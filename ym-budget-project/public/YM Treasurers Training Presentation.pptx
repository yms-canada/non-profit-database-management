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Abril Fatface"/>
      <p:regular r:id="rId19"/>
    </p:embeddedFont>
    <p:embeddedFont>
      <p:font typeface="Griffy"/>
      <p:regular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  <p:embeddedFont>
      <p:font typeface="Homemade Appl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riffy-regular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omemadeAppl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AbrilFatface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a073618e6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a073618e6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7cc1e64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7cc1e64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a073618e6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a073618e6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77cc1e644c_0_1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77cc1e644c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77cc1e644c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77cc1e644c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77cc1e644c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77cc1e644c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77cc1e644c_0_1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77cc1e644c_0_1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a073618e60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a073618e60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a073618e60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a073618e60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image" Target="../media/image5.png"/><Relationship Id="rId9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1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title"/>
          </p:nvPr>
        </p:nvSpPr>
        <p:spPr>
          <a:xfrm>
            <a:off x="1649400" y="2813700"/>
            <a:ext cx="8893200" cy="1230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178500" y="5511425"/>
            <a:ext cx="10012800" cy="59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1"/>
            </a:lvl9pPr>
          </a:lstStyle>
          <a:p/>
        </p:txBody>
      </p:sp>
      <p:grpSp>
        <p:nvGrpSpPr>
          <p:cNvPr id="22" name="Google Shape;22;p2"/>
          <p:cNvGrpSpPr/>
          <p:nvPr/>
        </p:nvGrpSpPr>
        <p:grpSpPr>
          <a:xfrm>
            <a:off x="1" y="-20549"/>
            <a:ext cx="11191307" cy="6128083"/>
            <a:chOff x="-12" y="-20554"/>
            <a:chExt cx="10012800" cy="5456400"/>
          </a:xfrm>
        </p:grpSpPr>
        <p:cxnSp>
          <p:nvCxnSpPr>
            <p:cNvPr id="23" name="Google Shape;23;p2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title">
  <p:cSld name="CUSTOM_18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406050" y="330000"/>
            <a:ext cx="11379900" cy="619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415650" y="421105"/>
            <a:ext cx="11360700" cy="1230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2 Intro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6072725" y="1583975"/>
            <a:ext cx="5322600" cy="132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6072700" y="2988275"/>
            <a:ext cx="5322600" cy="2235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0" y="1"/>
            <a:ext cx="11776054" cy="6353432"/>
            <a:chOff x="-12" y="-20554"/>
            <a:chExt cx="10012800" cy="5456400"/>
          </a:xfrm>
        </p:grpSpPr>
        <p:cxnSp>
          <p:nvCxnSpPr>
            <p:cNvPr id="35" name="Google Shape;35;p4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" name="Google Shape;36;p4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Talking Points">
  <p:cSld name="CUSTOM_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720400" y="669575"/>
            <a:ext cx="110559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720400" y="2000625"/>
            <a:ext cx="9882900" cy="403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Section Title">
  <p:cSld name="CUSTOM_3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362200" y="4118325"/>
            <a:ext cx="10441200" cy="207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362200" y="3041475"/>
            <a:ext cx="104412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ldrich"/>
              <a:buNone/>
              <a:defRPr sz="72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bril Fatface"/>
              <a:buNone/>
              <a:defRPr sz="72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>
            <a:off x="0" y="4"/>
            <a:ext cx="11352513" cy="5008430"/>
            <a:chOff x="-12" y="-20554"/>
            <a:chExt cx="10012800" cy="5456400"/>
          </a:xfrm>
        </p:grpSpPr>
        <p:cxnSp>
          <p:nvCxnSpPr>
            <p:cNvPr id="46" name="Google Shape;46;p6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" name="Google Shape;47;p6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6 Two columns">
  <p:cSld name="CUSTOM_4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7"/>
          <p:cNvGrpSpPr/>
          <p:nvPr/>
        </p:nvGrpSpPr>
        <p:grpSpPr>
          <a:xfrm>
            <a:off x="0" y="0"/>
            <a:ext cx="11667916" cy="6270495"/>
            <a:chOff x="-12" y="-20554"/>
            <a:chExt cx="10012800" cy="5456400"/>
          </a:xfrm>
        </p:grpSpPr>
        <p:cxnSp>
          <p:nvCxnSpPr>
            <p:cNvPr id="50" name="Google Shape;50;p7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" name="Google Shape;51;p7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873360" y="1813775"/>
            <a:ext cx="49611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53" name="Google Shape;53;p7"/>
          <p:cNvSpPr txBox="1"/>
          <p:nvPr>
            <p:ph idx="2" type="subTitle"/>
          </p:nvPr>
        </p:nvSpPr>
        <p:spPr>
          <a:xfrm>
            <a:off x="6464155" y="1813775"/>
            <a:ext cx="49608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873350" y="836300"/>
            <a:ext cx="105519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5 One column">
  <p:cSld name="CUSTOM_5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8"/>
          <p:cNvGrpSpPr/>
          <p:nvPr/>
        </p:nvGrpSpPr>
        <p:grpSpPr>
          <a:xfrm>
            <a:off x="0" y="1"/>
            <a:ext cx="8162435" cy="6270495"/>
            <a:chOff x="-12" y="-20554"/>
            <a:chExt cx="10012800" cy="5456400"/>
          </a:xfrm>
        </p:grpSpPr>
        <p:cxnSp>
          <p:nvCxnSpPr>
            <p:cNvPr id="60" name="Google Shape;60;p8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8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753675" y="2024175"/>
            <a:ext cx="49074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63" name="Google Shape;63;p8"/>
          <p:cNvSpPr txBox="1"/>
          <p:nvPr>
            <p:ph type="title"/>
          </p:nvPr>
        </p:nvSpPr>
        <p:spPr>
          <a:xfrm>
            <a:off x="720400" y="593375"/>
            <a:ext cx="4907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2" type="body"/>
          </p:nvPr>
        </p:nvSpPr>
        <p:spPr>
          <a:xfrm>
            <a:off x="753677" y="2684350"/>
            <a:ext cx="4907400" cy="343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7 Quote">
  <p:cSld name="CUSTOM_6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415900" y="1398025"/>
            <a:ext cx="11379900" cy="4111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632875" y="5919475"/>
            <a:ext cx="11379900" cy="717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9 Big Title">
  <p:cSld name="CUSTOM_7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0" y="1"/>
            <a:ext cx="11643885" cy="4677226"/>
            <a:chOff x="-12" y="-20554"/>
            <a:chExt cx="10012800" cy="5456400"/>
          </a:xfrm>
        </p:grpSpPr>
        <p:cxnSp>
          <p:nvCxnSpPr>
            <p:cNvPr id="73" name="Google Shape;73;p10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0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" name="Google Shape;75;p10"/>
          <p:cNvSpPr txBox="1"/>
          <p:nvPr>
            <p:ph type="title"/>
          </p:nvPr>
        </p:nvSpPr>
        <p:spPr>
          <a:xfrm>
            <a:off x="548250" y="1394550"/>
            <a:ext cx="11095500" cy="4068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hree columns">
  <p:cSld name="CUSTOM_8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0" y="0"/>
            <a:ext cx="11667916" cy="6270495"/>
            <a:chOff x="-12" y="-20554"/>
            <a:chExt cx="10012800" cy="5456400"/>
          </a:xfrm>
        </p:grpSpPr>
        <p:cxnSp>
          <p:nvCxnSpPr>
            <p:cNvPr id="79" name="Google Shape;79;p11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11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1" name="Google Shape;81;p11"/>
          <p:cNvSpPr txBox="1"/>
          <p:nvPr>
            <p:ph idx="1" type="subTitle"/>
          </p:nvPr>
        </p:nvSpPr>
        <p:spPr>
          <a:xfrm>
            <a:off x="1388682" y="1729975"/>
            <a:ext cx="75306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82" name="Google Shape;82;p11"/>
          <p:cNvSpPr txBox="1"/>
          <p:nvPr>
            <p:ph idx="2" type="subTitle"/>
          </p:nvPr>
        </p:nvSpPr>
        <p:spPr>
          <a:xfrm>
            <a:off x="1388682" y="3334868"/>
            <a:ext cx="75306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83" name="Google Shape;83;p11"/>
          <p:cNvSpPr txBox="1"/>
          <p:nvPr>
            <p:ph idx="3" type="subTitle"/>
          </p:nvPr>
        </p:nvSpPr>
        <p:spPr>
          <a:xfrm>
            <a:off x="1388682" y="4939762"/>
            <a:ext cx="75306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506050" y="593375"/>
            <a:ext cx="84132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4" type="body"/>
          </p:nvPr>
        </p:nvSpPr>
        <p:spPr>
          <a:xfrm>
            <a:off x="1388675" y="2167925"/>
            <a:ext cx="7530600" cy="92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86" name="Google Shape;86;p11"/>
          <p:cNvSpPr txBox="1"/>
          <p:nvPr>
            <p:ph idx="5" type="body"/>
          </p:nvPr>
        </p:nvSpPr>
        <p:spPr>
          <a:xfrm>
            <a:off x="1388675" y="3761388"/>
            <a:ext cx="7530600" cy="923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87" name="Google Shape;87;p11"/>
          <p:cNvSpPr txBox="1"/>
          <p:nvPr>
            <p:ph idx="6" type="body"/>
          </p:nvPr>
        </p:nvSpPr>
        <p:spPr>
          <a:xfrm>
            <a:off x="1388675" y="5353050"/>
            <a:ext cx="7531500" cy="923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eam">
  <p:cSld name="CUSTOM_8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2"/>
          <p:cNvGrpSpPr/>
          <p:nvPr/>
        </p:nvGrpSpPr>
        <p:grpSpPr>
          <a:xfrm>
            <a:off x="0" y="0"/>
            <a:ext cx="11184298" cy="6270495"/>
            <a:chOff x="-12" y="-20554"/>
            <a:chExt cx="10012800" cy="5456400"/>
          </a:xfrm>
        </p:grpSpPr>
        <p:cxnSp>
          <p:nvCxnSpPr>
            <p:cNvPr id="91" name="Google Shape;91;p12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12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3" name="Google Shape;93;p12"/>
          <p:cNvSpPr txBox="1"/>
          <p:nvPr>
            <p:ph idx="1" type="subTitle"/>
          </p:nvPr>
        </p:nvSpPr>
        <p:spPr>
          <a:xfrm>
            <a:off x="1189052" y="4020675"/>
            <a:ext cx="26589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94" name="Google Shape;94;p12"/>
          <p:cNvSpPr txBox="1"/>
          <p:nvPr>
            <p:ph idx="2" type="subTitle"/>
          </p:nvPr>
        </p:nvSpPr>
        <p:spPr>
          <a:xfrm>
            <a:off x="4713302" y="4020675"/>
            <a:ext cx="26589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95" name="Google Shape;95;p12"/>
          <p:cNvSpPr txBox="1"/>
          <p:nvPr>
            <p:ph idx="3" type="subTitle"/>
          </p:nvPr>
        </p:nvSpPr>
        <p:spPr>
          <a:xfrm>
            <a:off x="8237552" y="4020675"/>
            <a:ext cx="26586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>
            <a:off x="1189050" y="669575"/>
            <a:ext cx="9707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97" name="Google Shape;97;p12"/>
          <p:cNvSpPr txBox="1"/>
          <p:nvPr>
            <p:ph idx="4" type="body"/>
          </p:nvPr>
        </p:nvSpPr>
        <p:spPr>
          <a:xfrm>
            <a:off x="1189050" y="4458625"/>
            <a:ext cx="2658900" cy="92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98" name="Google Shape;98;p12"/>
          <p:cNvSpPr txBox="1"/>
          <p:nvPr>
            <p:ph idx="5" type="body"/>
          </p:nvPr>
        </p:nvSpPr>
        <p:spPr>
          <a:xfrm>
            <a:off x="4713300" y="4447196"/>
            <a:ext cx="2658900" cy="923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99" name="Google Shape;99;p12"/>
          <p:cNvSpPr txBox="1"/>
          <p:nvPr>
            <p:ph idx="6" type="body"/>
          </p:nvPr>
        </p:nvSpPr>
        <p:spPr>
          <a:xfrm>
            <a:off x="8237550" y="4433967"/>
            <a:ext cx="2658900" cy="923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 Text and Image">
  <p:cSld name="CUSTOM_9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type="title"/>
          </p:nvPr>
        </p:nvSpPr>
        <p:spPr>
          <a:xfrm>
            <a:off x="411275" y="1727000"/>
            <a:ext cx="4458300" cy="237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/>
        </p:txBody>
      </p:sp>
      <p:sp>
        <p:nvSpPr>
          <p:cNvPr id="103" name="Google Shape;103;p13"/>
          <p:cNvSpPr txBox="1"/>
          <p:nvPr>
            <p:ph idx="1" type="subTitle"/>
          </p:nvPr>
        </p:nvSpPr>
        <p:spPr>
          <a:xfrm>
            <a:off x="411275" y="5029775"/>
            <a:ext cx="44583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" name="Google Shape;104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2 Percentages">
  <p:cSld name="CUSTOM_1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hasCustomPrompt="1" type="title"/>
          </p:nvPr>
        </p:nvSpPr>
        <p:spPr>
          <a:xfrm>
            <a:off x="715025" y="2378150"/>
            <a:ext cx="2948400" cy="1188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" type="title"/>
          </p:nvPr>
        </p:nvSpPr>
        <p:spPr>
          <a:xfrm>
            <a:off x="715025" y="898175"/>
            <a:ext cx="107148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hasCustomPrompt="1" idx="3" type="title"/>
          </p:nvPr>
        </p:nvSpPr>
        <p:spPr>
          <a:xfrm>
            <a:off x="4516336" y="2378150"/>
            <a:ext cx="2948400" cy="1188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09" name="Google Shape;109;p14"/>
          <p:cNvSpPr txBox="1"/>
          <p:nvPr>
            <p:ph hasCustomPrompt="1" idx="4" type="title"/>
          </p:nvPr>
        </p:nvSpPr>
        <p:spPr>
          <a:xfrm>
            <a:off x="8481454" y="2378150"/>
            <a:ext cx="2948400" cy="1188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10" name="Google Shape;110;p14"/>
          <p:cNvSpPr txBox="1"/>
          <p:nvPr>
            <p:ph idx="1" type="body"/>
          </p:nvPr>
        </p:nvSpPr>
        <p:spPr>
          <a:xfrm>
            <a:off x="8481446" y="3619725"/>
            <a:ext cx="2948400" cy="92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83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111" name="Google Shape;111;p14"/>
          <p:cNvSpPr txBox="1"/>
          <p:nvPr>
            <p:ph idx="5" type="body"/>
          </p:nvPr>
        </p:nvSpPr>
        <p:spPr>
          <a:xfrm>
            <a:off x="4516345" y="3608575"/>
            <a:ext cx="2948400" cy="92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83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112" name="Google Shape;112;p14"/>
          <p:cNvSpPr txBox="1"/>
          <p:nvPr>
            <p:ph idx="6" type="body"/>
          </p:nvPr>
        </p:nvSpPr>
        <p:spPr>
          <a:xfrm>
            <a:off x="715025" y="3608575"/>
            <a:ext cx="2948400" cy="92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83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113" name="Google Shape;113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3 Six columns">
  <p:cSld name="CUSTOM_1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5"/>
          <p:cNvGrpSpPr/>
          <p:nvPr/>
        </p:nvGrpSpPr>
        <p:grpSpPr>
          <a:xfrm>
            <a:off x="0" y="0"/>
            <a:ext cx="11883191" cy="6270495"/>
            <a:chOff x="-12" y="-20554"/>
            <a:chExt cx="10012800" cy="5456400"/>
          </a:xfrm>
        </p:grpSpPr>
        <p:cxnSp>
          <p:nvCxnSpPr>
            <p:cNvPr id="116" name="Google Shape;116;p15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5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720400" y="2163600"/>
            <a:ext cx="32505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19" name="Google Shape;119;p15"/>
          <p:cNvSpPr txBox="1"/>
          <p:nvPr>
            <p:ph idx="2" type="subTitle"/>
          </p:nvPr>
        </p:nvSpPr>
        <p:spPr>
          <a:xfrm>
            <a:off x="720400" y="4020325"/>
            <a:ext cx="32505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20" name="Google Shape;120;p15"/>
          <p:cNvSpPr txBox="1"/>
          <p:nvPr>
            <p:ph idx="3" type="subTitle"/>
          </p:nvPr>
        </p:nvSpPr>
        <p:spPr>
          <a:xfrm>
            <a:off x="8381787" y="2172980"/>
            <a:ext cx="32505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21" name="Google Shape;121;p15"/>
          <p:cNvSpPr txBox="1"/>
          <p:nvPr>
            <p:ph idx="4" type="subTitle"/>
          </p:nvPr>
        </p:nvSpPr>
        <p:spPr>
          <a:xfrm>
            <a:off x="4571787" y="2180950"/>
            <a:ext cx="32505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22" name="Google Shape;122;p15"/>
          <p:cNvSpPr txBox="1"/>
          <p:nvPr>
            <p:ph idx="5" type="subTitle"/>
          </p:nvPr>
        </p:nvSpPr>
        <p:spPr>
          <a:xfrm>
            <a:off x="4571787" y="4020325"/>
            <a:ext cx="32505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23" name="Google Shape;123;p15"/>
          <p:cNvSpPr txBox="1"/>
          <p:nvPr>
            <p:ph idx="6" type="subTitle"/>
          </p:nvPr>
        </p:nvSpPr>
        <p:spPr>
          <a:xfrm>
            <a:off x="8381787" y="4001780"/>
            <a:ext cx="32505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24" name="Google Shape;124;p15"/>
          <p:cNvSpPr txBox="1"/>
          <p:nvPr>
            <p:ph type="title"/>
          </p:nvPr>
        </p:nvSpPr>
        <p:spPr>
          <a:xfrm>
            <a:off x="720400" y="898175"/>
            <a:ext cx="109119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7" type="body"/>
          </p:nvPr>
        </p:nvSpPr>
        <p:spPr>
          <a:xfrm>
            <a:off x="4571787" y="2589800"/>
            <a:ext cx="3250500" cy="83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26" name="Google Shape;126;p15"/>
          <p:cNvSpPr txBox="1"/>
          <p:nvPr>
            <p:ph idx="8" type="body"/>
          </p:nvPr>
        </p:nvSpPr>
        <p:spPr>
          <a:xfrm>
            <a:off x="8381787" y="4418600"/>
            <a:ext cx="3250500" cy="83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27" name="Google Shape;127;p15"/>
          <p:cNvSpPr txBox="1"/>
          <p:nvPr>
            <p:ph idx="9" type="body"/>
          </p:nvPr>
        </p:nvSpPr>
        <p:spPr>
          <a:xfrm>
            <a:off x="4571787" y="4418600"/>
            <a:ext cx="3250500" cy="83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28" name="Google Shape;128;p15"/>
          <p:cNvSpPr txBox="1"/>
          <p:nvPr>
            <p:ph idx="13" type="body"/>
          </p:nvPr>
        </p:nvSpPr>
        <p:spPr>
          <a:xfrm>
            <a:off x="720400" y="2589800"/>
            <a:ext cx="3250500" cy="83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29" name="Google Shape;129;p15"/>
          <p:cNvSpPr txBox="1"/>
          <p:nvPr>
            <p:ph idx="14" type="body"/>
          </p:nvPr>
        </p:nvSpPr>
        <p:spPr>
          <a:xfrm>
            <a:off x="8381787" y="2589800"/>
            <a:ext cx="3250500" cy="83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30" name="Google Shape;130;p15"/>
          <p:cNvSpPr txBox="1"/>
          <p:nvPr>
            <p:ph idx="15" type="body"/>
          </p:nvPr>
        </p:nvSpPr>
        <p:spPr>
          <a:xfrm>
            <a:off x="720400" y="4418600"/>
            <a:ext cx="3250500" cy="83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4 Map">
  <p:cSld name="CUSTOM_1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" type="subTitle"/>
          </p:nvPr>
        </p:nvSpPr>
        <p:spPr>
          <a:xfrm>
            <a:off x="8378500" y="1882375"/>
            <a:ext cx="33978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4" name="Google Shape;134;p16"/>
          <p:cNvSpPr txBox="1"/>
          <p:nvPr>
            <p:ph idx="2" type="subTitle"/>
          </p:nvPr>
        </p:nvSpPr>
        <p:spPr>
          <a:xfrm>
            <a:off x="8378500" y="4102757"/>
            <a:ext cx="33978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36" name="Google Shape;136;p16"/>
          <p:cNvSpPr txBox="1"/>
          <p:nvPr>
            <p:ph idx="3" type="body"/>
          </p:nvPr>
        </p:nvSpPr>
        <p:spPr>
          <a:xfrm>
            <a:off x="8378500" y="2318375"/>
            <a:ext cx="3397800" cy="1553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7" name="Google Shape;137;p16"/>
          <p:cNvSpPr txBox="1"/>
          <p:nvPr>
            <p:ph idx="4" type="body"/>
          </p:nvPr>
        </p:nvSpPr>
        <p:spPr>
          <a:xfrm>
            <a:off x="8378500" y="4506700"/>
            <a:ext cx="3397800" cy="1553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8" name="Google Shape;13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5 Timeline">
  <p:cSld name="CUSTOM_14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7"/>
          <p:cNvGrpSpPr/>
          <p:nvPr/>
        </p:nvGrpSpPr>
        <p:grpSpPr>
          <a:xfrm>
            <a:off x="0" y="0"/>
            <a:ext cx="11852151" cy="6270495"/>
            <a:chOff x="-12" y="-20554"/>
            <a:chExt cx="10012800" cy="5456400"/>
          </a:xfrm>
        </p:grpSpPr>
        <p:cxnSp>
          <p:nvCxnSpPr>
            <p:cNvPr id="141" name="Google Shape;141;p17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3" name="Google Shape;143;p17"/>
          <p:cNvSpPr txBox="1"/>
          <p:nvPr>
            <p:ph idx="1" type="subTitle"/>
          </p:nvPr>
        </p:nvSpPr>
        <p:spPr>
          <a:xfrm>
            <a:off x="415600" y="2316000"/>
            <a:ext cx="19977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2pPr>
            <a:lvl3pPr lvl="2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3pPr>
            <a:lvl4pPr lvl="3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4pPr>
            <a:lvl5pPr lvl="4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5pPr>
            <a:lvl6pPr lvl="5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6pPr>
            <a:lvl7pPr lvl="6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7pPr>
            <a:lvl8pPr lvl="7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8pPr>
            <a:lvl9pPr lvl="8" rtl="0" algn="ctr">
              <a:spcBef>
                <a:spcPts val="2100"/>
              </a:spcBef>
              <a:spcAft>
                <a:spcPts val="2100"/>
              </a:spcAft>
              <a:buSzPts val="2200"/>
              <a:buNone/>
              <a:defRPr b="1" sz="2200"/>
            </a:lvl9pPr>
          </a:lstStyle>
          <a:p/>
        </p:txBody>
      </p:sp>
      <p:sp>
        <p:nvSpPr>
          <p:cNvPr id="144" name="Google Shape;144;p17"/>
          <p:cNvSpPr txBox="1"/>
          <p:nvPr>
            <p:ph idx="2" type="subTitle"/>
          </p:nvPr>
        </p:nvSpPr>
        <p:spPr>
          <a:xfrm>
            <a:off x="2775377" y="2316000"/>
            <a:ext cx="19977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2pPr>
            <a:lvl3pPr lvl="2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3pPr>
            <a:lvl4pPr lvl="3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4pPr>
            <a:lvl5pPr lvl="4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5pPr>
            <a:lvl6pPr lvl="5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6pPr>
            <a:lvl7pPr lvl="6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7pPr>
            <a:lvl8pPr lvl="7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8pPr>
            <a:lvl9pPr lvl="8" rtl="0" algn="ctr">
              <a:spcBef>
                <a:spcPts val="2100"/>
              </a:spcBef>
              <a:spcAft>
                <a:spcPts val="2100"/>
              </a:spcAft>
              <a:buSzPts val="2200"/>
              <a:buNone/>
              <a:defRPr b="1" sz="2200"/>
            </a:lvl9pPr>
          </a:lstStyle>
          <a:p/>
        </p:txBody>
      </p:sp>
      <p:sp>
        <p:nvSpPr>
          <p:cNvPr id="145" name="Google Shape;145;p17"/>
          <p:cNvSpPr txBox="1"/>
          <p:nvPr>
            <p:ph idx="3" type="subTitle"/>
          </p:nvPr>
        </p:nvSpPr>
        <p:spPr>
          <a:xfrm>
            <a:off x="5135153" y="2342500"/>
            <a:ext cx="19977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2pPr>
            <a:lvl3pPr lvl="2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3pPr>
            <a:lvl4pPr lvl="3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4pPr>
            <a:lvl5pPr lvl="4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5pPr>
            <a:lvl6pPr lvl="5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6pPr>
            <a:lvl7pPr lvl="6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7pPr>
            <a:lvl8pPr lvl="7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8pPr>
            <a:lvl9pPr lvl="8" rtl="0" algn="ctr">
              <a:spcBef>
                <a:spcPts val="2100"/>
              </a:spcBef>
              <a:spcAft>
                <a:spcPts val="2100"/>
              </a:spcAft>
              <a:buSzPts val="2200"/>
              <a:buNone/>
              <a:defRPr b="1" sz="2200"/>
            </a:lvl9pPr>
          </a:lstStyle>
          <a:p/>
        </p:txBody>
      </p:sp>
      <p:sp>
        <p:nvSpPr>
          <p:cNvPr id="146" name="Google Shape;146;p17"/>
          <p:cNvSpPr txBox="1"/>
          <p:nvPr>
            <p:ph idx="4" type="subTitle"/>
          </p:nvPr>
        </p:nvSpPr>
        <p:spPr>
          <a:xfrm>
            <a:off x="7494930" y="2342500"/>
            <a:ext cx="19977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2pPr>
            <a:lvl3pPr lvl="2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3pPr>
            <a:lvl4pPr lvl="3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4pPr>
            <a:lvl5pPr lvl="4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5pPr>
            <a:lvl6pPr lvl="5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6pPr>
            <a:lvl7pPr lvl="6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7pPr>
            <a:lvl8pPr lvl="7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8pPr>
            <a:lvl9pPr lvl="8" rtl="0" algn="ctr">
              <a:spcBef>
                <a:spcPts val="2100"/>
              </a:spcBef>
              <a:spcAft>
                <a:spcPts val="2100"/>
              </a:spcAft>
              <a:buSzPts val="2200"/>
              <a:buNone/>
              <a:defRPr b="1" sz="2200"/>
            </a:lvl9pPr>
          </a:lstStyle>
          <a:p/>
        </p:txBody>
      </p:sp>
      <p:sp>
        <p:nvSpPr>
          <p:cNvPr id="147" name="Google Shape;147;p17"/>
          <p:cNvSpPr txBox="1"/>
          <p:nvPr>
            <p:ph idx="5" type="subTitle"/>
          </p:nvPr>
        </p:nvSpPr>
        <p:spPr>
          <a:xfrm>
            <a:off x="9854707" y="2316000"/>
            <a:ext cx="1997700" cy="60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2pPr>
            <a:lvl3pPr lvl="2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3pPr>
            <a:lvl4pPr lvl="3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4pPr>
            <a:lvl5pPr lvl="4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5pPr>
            <a:lvl6pPr lvl="5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6pPr>
            <a:lvl7pPr lvl="6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7pPr>
            <a:lvl8pPr lvl="7" rtl="0" algn="ctr">
              <a:spcBef>
                <a:spcPts val="2100"/>
              </a:spcBef>
              <a:spcAft>
                <a:spcPts val="0"/>
              </a:spcAft>
              <a:buSzPts val="2200"/>
              <a:buNone/>
              <a:defRPr b="1" sz="2200"/>
            </a:lvl8pPr>
            <a:lvl9pPr lvl="8" rtl="0" algn="ctr">
              <a:spcBef>
                <a:spcPts val="2100"/>
              </a:spcBef>
              <a:spcAft>
                <a:spcPts val="2100"/>
              </a:spcAft>
              <a:buSzPts val="2200"/>
              <a:buNone/>
              <a:defRPr b="1" sz="2200"/>
            </a:lvl9pPr>
          </a:lstStyle>
          <a:p/>
        </p:txBody>
      </p:sp>
      <p:sp>
        <p:nvSpPr>
          <p:cNvPr id="148" name="Google Shape;148;p17"/>
          <p:cNvSpPr txBox="1"/>
          <p:nvPr>
            <p:ph type="title"/>
          </p:nvPr>
        </p:nvSpPr>
        <p:spPr>
          <a:xfrm>
            <a:off x="415600" y="974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49" name="Google Shape;149;p17"/>
          <p:cNvSpPr txBox="1"/>
          <p:nvPr>
            <p:ph idx="6" type="body"/>
          </p:nvPr>
        </p:nvSpPr>
        <p:spPr>
          <a:xfrm>
            <a:off x="415600" y="3238625"/>
            <a:ext cx="1997700" cy="233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0" name="Google Shape;150;p17"/>
          <p:cNvSpPr txBox="1"/>
          <p:nvPr>
            <p:ph idx="7" type="body"/>
          </p:nvPr>
        </p:nvSpPr>
        <p:spPr>
          <a:xfrm>
            <a:off x="2775375" y="3238625"/>
            <a:ext cx="1997700" cy="233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1" name="Google Shape;151;p17"/>
          <p:cNvSpPr txBox="1"/>
          <p:nvPr>
            <p:ph idx="8" type="body"/>
          </p:nvPr>
        </p:nvSpPr>
        <p:spPr>
          <a:xfrm>
            <a:off x="5135150" y="3238625"/>
            <a:ext cx="1997700" cy="233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2" name="Google Shape;152;p17"/>
          <p:cNvSpPr txBox="1"/>
          <p:nvPr>
            <p:ph idx="9" type="body"/>
          </p:nvPr>
        </p:nvSpPr>
        <p:spPr>
          <a:xfrm>
            <a:off x="7494925" y="3238625"/>
            <a:ext cx="1997700" cy="233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3" name="Google Shape;153;p17"/>
          <p:cNvSpPr txBox="1"/>
          <p:nvPr>
            <p:ph idx="13" type="body"/>
          </p:nvPr>
        </p:nvSpPr>
        <p:spPr>
          <a:xfrm>
            <a:off x="9854700" y="3238625"/>
            <a:ext cx="1997700" cy="233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4" name="Google Shape;15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6 Title and text left">
  <p:cSld name="CUSTOM_1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8"/>
          <p:cNvGrpSpPr/>
          <p:nvPr/>
        </p:nvGrpSpPr>
        <p:grpSpPr>
          <a:xfrm>
            <a:off x="0" y="0"/>
            <a:ext cx="11709970" cy="4952229"/>
            <a:chOff x="-12" y="-20554"/>
            <a:chExt cx="10012800" cy="5456400"/>
          </a:xfrm>
        </p:grpSpPr>
        <p:cxnSp>
          <p:nvCxnSpPr>
            <p:cNvPr id="157" name="Google Shape;157;p18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18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9" name="Google Shape;159;p18"/>
          <p:cNvSpPr txBox="1"/>
          <p:nvPr>
            <p:ph type="title"/>
          </p:nvPr>
        </p:nvSpPr>
        <p:spPr>
          <a:xfrm>
            <a:off x="644200" y="974375"/>
            <a:ext cx="55815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644050" y="2097700"/>
            <a:ext cx="5581500" cy="3565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7 Title and text right">
  <p:cSld name="CUSTOM_16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9"/>
          <p:cNvGrpSpPr/>
          <p:nvPr/>
        </p:nvGrpSpPr>
        <p:grpSpPr>
          <a:xfrm flipH="1">
            <a:off x="457200" y="0"/>
            <a:ext cx="11709970" cy="4952229"/>
            <a:chOff x="-12" y="-20554"/>
            <a:chExt cx="10012800" cy="5456400"/>
          </a:xfrm>
        </p:grpSpPr>
        <p:cxnSp>
          <p:nvCxnSpPr>
            <p:cNvPr id="164" name="Google Shape;164;p19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9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6" name="Google Shape;166;p19"/>
          <p:cNvSpPr txBox="1"/>
          <p:nvPr>
            <p:ph type="title"/>
          </p:nvPr>
        </p:nvSpPr>
        <p:spPr>
          <a:xfrm>
            <a:off x="5978200" y="974375"/>
            <a:ext cx="55815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5978300" y="2508425"/>
            <a:ext cx="5581500" cy="310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8 Custom Layout 1">
  <p:cSld name="CUSTOM_17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0"/>
          <p:cNvGrpSpPr/>
          <p:nvPr/>
        </p:nvGrpSpPr>
        <p:grpSpPr>
          <a:xfrm>
            <a:off x="0" y="0"/>
            <a:ext cx="11408584" cy="6270495"/>
            <a:chOff x="-12" y="-20554"/>
            <a:chExt cx="10012800" cy="5456400"/>
          </a:xfrm>
        </p:grpSpPr>
        <p:cxnSp>
          <p:nvCxnSpPr>
            <p:cNvPr id="171" name="Google Shape;171;p20"/>
            <p:cNvCxnSpPr/>
            <p:nvPr/>
          </p:nvCxnSpPr>
          <p:spPr>
            <a:xfrm>
              <a:off x="-12" y="5435846"/>
              <a:ext cx="1001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0"/>
            <p:cNvCxnSpPr/>
            <p:nvPr/>
          </p:nvCxnSpPr>
          <p:spPr>
            <a:xfrm rot="10800000">
              <a:off x="10012788" y="-20554"/>
              <a:ext cx="0" cy="545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3" name="Google Shape;173;p20"/>
          <p:cNvSpPr txBox="1"/>
          <p:nvPr>
            <p:ph idx="1" type="subTitle"/>
          </p:nvPr>
        </p:nvSpPr>
        <p:spPr>
          <a:xfrm>
            <a:off x="1409500" y="2533400"/>
            <a:ext cx="55815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1409500" y="1600550"/>
            <a:ext cx="5581500" cy="763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2" type="body"/>
          </p:nvPr>
        </p:nvSpPr>
        <p:spPr>
          <a:xfrm>
            <a:off x="1409550" y="3398200"/>
            <a:ext cx="5581500" cy="1341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0 DO NOT REMOVE · SlidesMania">
  <p:cSld name="CUSTOM_20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9" name="Google Shape;179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30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n" sz="44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81" name="Google Shape;181;p21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38100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82" name="Google Shape;182;p21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1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1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21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1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24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187" name="Google Shape;187;p21"/>
          <p:cNvPicPr preferRelativeResize="0"/>
          <p:nvPr/>
        </p:nvPicPr>
        <p:blipFill rotWithShape="1">
          <a:blip r:embed="rId11">
            <a:alphaModFix/>
          </a:blip>
          <a:srcRect b="20906" l="0" r="0" t="1625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>
                <a:latin typeface="Times"/>
                <a:ea typeface="Times"/>
                <a:cs typeface="Times"/>
                <a:sym typeface="Times"/>
              </a:defRPr>
            </a:lvl1pPr>
            <a:lvl2pPr lvl="1">
              <a:buNone/>
              <a:defRPr>
                <a:latin typeface="Times"/>
                <a:ea typeface="Times"/>
                <a:cs typeface="Times"/>
                <a:sym typeface="Times"/>
              </a:defRPr>
            </a:lvl2pPr>
            <a:lvl3pPr lvl="2">
              <a:buNone/>
              <a:defRPr>
                <a:latin typeface="Times"/>
                <a:ea typeface="Times"/>
                <a:cs typeface="Times"/>
                <a:sym typeface="Times"/>
              </a:defRPr>
            </a:lvl3pPr>
            <a:lvl4pPr lvl="3">
              <a:buNone/>
              <a:defRPr>
                <a:latin typeface="Times"/>
                <a:ea typeface="Times"/>
                <a:cs typeface="Times"/>
                <a:sym typeface="Times"/>
              </a:defRPr>
            </a:lvl4pPr>
            <a:lvl5pPr lvl="4">
              <a:buNone/>
              <a:defRPr>
                <a:latin typeface="Times"/>
                <a:ea typeface="Times"/>
                <a:cs typeface="Times"/>
                <a:sym typeface="Times"/>
              </a:defRPr>
            </a:lvl5pPr>
            <a:lvl6pPr lvl="5">
              <a:buNone/>
              <a:defRPr>
                <a:latin typeface="Times"/>
                <a:ea typeface="Times"/>
                <a:cs typeface="Times"/>
                <a:sym typeface="Times"/>
              </a:defRPr>
            </a:lvl6pPr>
            <a:lvl7pPr lvl="6">
              <a:buNone/>
              <a:defRPr>
                <a:latin typeface="Times"/>
                <a:ea typeface="Times"/>
                <a:cs typeface="Times"/>
                <a:sym typeface="Times"/>
              </a:defRPr>
            </a:lvl7pPr>
            <a:lvl8pPr lvl="7">
              <a:buNone/>
              <a:defRPr>
                <a:latin typeface="Times"/>
                <a:ea typeface="Times"/>
                <a:cs typeface="Times"/>
                <a:sym typeface="Times"/>
              </a:defRPr>
            </a:lvl8pPr>
            <a:lvl9pPr lvl="8">
              <a:buNone/>
              <a:defRPr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41000">
              <a:schemeClr val="accent5"/>
            </a:gs>
            <a:gs pos="63000">
              <a:schemeClr val="accent6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2244895">
            <a:off x="9527360" y="-2672736"/>
            <a:ext cx="5292119" cy="49563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428750" sx="145000" rotWithShape="0" algn="ctr" dist="9525" sy="145000">
              <a:schemeClr val="accen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/>
          <p:nvPr/>
        </p:nvSpPr>
        <p:spPr>
          <a:xfrm rot="2244776">
            <a:off x="-3557305" y="5917273"/>
            <a:ext cx="5305198" cy="496876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428750" sx="145000" rotWithShape="0" algn="ctr" dist="9525" sy="145000">
              <a:schemeClr val="accent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/>
          <p:nvPr/>
        </p:nvSpPr>
        <p:spPr>
          <a:xfrm rot="2244996">
            <a:off x="9306216" y="-3601943"/>
            <a:ext cx="2358107" cy="532464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428750" sx="145000" rotWithShape="0" algn="ctr" dist="9525" sy="145000">
              <a:schemeClr val="accen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"/>
              <a:buNone/>
              <a:defRPr sz="6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●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492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○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3492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■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3492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●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3492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○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3492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■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-3492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●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-3492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"/>
              <a:buChar char="○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-3492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Times"/>
              <a:buChar char="■"/>
              <a:defRPr sz="190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372810" y="62938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-4492350" y="-2781450"/>
            <a:ext cx="21176600" cy="12687750"/>
            <a:chOff x="-4492350" y="-2781450"/>
            <a:chExt cx="21176600" cy="12687750"/>
          </a:xfrm>
        </p:grpSpPr>
        <p:sp>
          <p:nvSpPr>
            <p:cNvPr id="13" name="Google Shape;13;p1"/>
            <p:cNvSpPr/>
            <p:nvPr/>
          </p:nvSpPr>
          <p:spPr>
            <a:xfrm>
              <a:off x="-4492350" y="-2781450"/>
              <a:ext cx="4457700" cy="126876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2226550" y="-2781300"/>
              <a:ext cx="4457700" cy="126876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-1588950" y="-2781450"/>
              <a:ext cx="15369900" cy="27828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-1253850" y="6858000"/>
              <a:ext cx="15369900" cy="30483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"/>
          <p:cNvSpPr txBox="1"/>
          <p:nvPr/>
        </p:nvSpPr>
        <p:spPr>
          <a:xfrm>
            <a:off x="11474125" y="6517050"/>
            <a:ext cx="677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" name="Google Shape;18;p1"/>
          <p:cNvSpPr txBox="1"/>
          <p:nvPr/>
        </p:nvSpPr>
        <p:spPr>
          <a:xfrm rot="5400000">
            <a:off x="-895150" y="5745500"/>
            <a:ext cx="18702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slidesmania.com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finance.chair@ymsisters.or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finance.chair@ymsisters.or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lidesmania.com/" TargetMode="External"/><Relationship Id="rId4" Type="http://schemas.openxmlformats.org/officeDocument/2006/relationships/hyperlink" Target="https://unsplas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743200" y="4042125"/>
            <a:ext cx="9546900" cy="89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YM Sisters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194" name="Google Shape;194;p22"/>
          <p:cNvSpPr txBox="1"/>
          <p:nvPr>
            <p:ph type="title"/>
          </p:nvPr>
        </p:nvSpPr>
        <p:spPr>
          <a:xfrm>
            <a:off x="743200" y="2965275"/>
            <a:ext cx="104412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for Treasurers</a:t>
            </a:r>
            <a:endParaRPr/>
          </a:p>
        </p:txBody>
      </p:sp>
      <p:sp>
        <p:nvSpPr>
          <p:cNvPr id="195" name="Google Shape;195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743200" y="3041477"/>
            <a:ext cx="205200" cy="243000"/>
          </a:xfrm>
          <a:custGeom>
            <a:rect b="b" l="l" r="r" t="t"/>
            <a:pathLst>
              <a:path extrusionOk="0" h="2160000" w="2160000">
                <a:moveTo>
                  <a:pt x="1095825" y="0"/>
                </a:moveTo>
                <a:lnTo>
                  <a:pt x="1108157" y="0"/>
                </a:lnTo>
                <a:lnTo>
                  <a:pt x="1113289" y="101634"/>
                </a:lnTo>
                <a:cubicBezTo>
                  <a:pt x="1164909" y="609924"/>
                  <a:pt x="1568999" y="1014015"/>
                  <a:pt x="2077289" y="1065634"/>
                </a:cubicBezTo>
                <a:lnTo>
                  <a:pt x="2160000" y="1069811"/>
                </a:lnTo>
                <a:lnTo>
                  <a:pt x="2160000" y="1089613"/>
                </a:lnTo>
                <a:lnTo>
                  <a:pt x="2143732" y="1088791"/>
                </a:lnTo>
                <a:cubicBezTo>
                  <a:pt x="1584543" y="1088791"/>
                  <a:pt x="1124615" y="1513770"/>
                  <a:pt x="1069308" y="2058367"/>
                </a:cubicBezTo>
                <a:lnTo>
                  <a:pt x="1064176" y="2160000"/>
                </a:lnTo>
                <a:lnTo>
                  <a:pt x="1051844" y="2160000"/>
                </a:lnTo>
                <a:lnTo>
                  <a:pt x="1046712" y="2058367"/>
                </a:lnTo>
                <a:cubicBezTo>
                  <a:pt x="995093" y="1550077"/>
                  <a:pt x="591002" y="1145987"/>
                  <a:pt x="82712" y="1094367"/>
                </a:cubicBezTo>
                <a:lnTo>
                  <a:pt x="0" y="1090190"/>
                </a:lnTo>
                <a:lnTo>
                  <a:pt x="0" y="1070389"/>
                </a:lnTo>
                <a:lnTo>
                  <a:pt x="16269" y="1071210"/>
                </a:lnTo>
                <a:cubicBezTo>
                  <a:pt x="575458" y="1071210"/>
                  <a:pt x="1035386" y="646231"/>
                  <a:pt x="1090693" y="1016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415650" y="878305"/>
            <a:ext cx="11360700" cy="1230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8F9FA"/>
                </a:highlight>
              </a:rPr>
              <a:t>Treasurer Cycle Overview</a:t>
            </a:r>
            <a:endParaRPr>
              <a:highlight>
                <a:srgbClr val="F8F9FA"/>
              </a:highlight>
            </a:endParaRPr>
          </a:p>
        </p:txBody>
      </p:sp>
      <p:sp>
        <p:nvSpPr>
          <p:cNvPr id="202" name="Google Shape;202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2217227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23"/>
          <p:cNvSpPr/>
          <p:nvPr/>
        </p:nvSpPr>
        <p:spPr>
          <a:xfrm>
            <a:off x="1170566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23"/>
          <p:cNvSpPr txBox="1"/>
          <p:nvPr/>
        </p:nvSpPr>
        <p:spPr>
          <a:xfrm>
            <a:off x="1275575" y="3179047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693128" y="409169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Budget Request Form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693150" y="4602543"/>
            <a:ext cx="1747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With monthly planning (10 days before month start)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2942580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" name="Google Shape;209;p23"/>
          <p:cNvSpPr txBox="1"/>
          <p:nvPr/>
        </p:nvSpPr>
        <p:spPr>
          <a:xfrm>
            <a:off x="2465192" y="399349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Approval Email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2465192" y="4602543"/>
            <a:ext cx="1747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Reply with cheque number when funds are received in mail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047578" y="327004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t/>
            </a:r>
            <a:endParaRPr b="1"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747650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4238673" y="4091704"/>
            <a:ext cx="1813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Petty Cash Statement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4237275" y="4602542"/>
            <a:ext cx="1813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Collect receipts, label and track their information for ICNA records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6554107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6076715" y="409169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Expense Record Form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6076718" y="4602543"/>
            <a:ext cx="1747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Fill form after each event and upload labelled receipts here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8360599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7848029" y="4091704"/>
            <a:ext cx="1813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Submit Petty Cash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7850211" y="4602543"/>
            <a:ext cx="1813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Download and email petty cash statement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10195770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9685375" y="3993492"/>
            <a:ext cx="1813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Mail Receipts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9685382" y="4602543"/>
            <a:ext cx="1813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Send in physical copies of receipts every 4 months 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4005810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811627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618127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9439010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cxnSp>
        <p:nvCxnSpPr>
          <p:cNvPr id="228" name="Google Shape;228;p23"/>
          <p:cNvCxnSpPr/>
          <p:nvPr/>
        </p:nvCxnSpPr>
        <p:spPr>
          <a:xfrm>
            <a:off x="1560375" y="2514050"/>
            <a:ext cx="1767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3"/>
          <p:cNvCxnSpPr>
            <a:endCxn id="204" idx="0"/>
          </p:cNvCxnSpPr>
          <p:nvPr/>
        </p:nvCxnSpPr>
        <p:spPr>
          <a:xfrm flipH="1">
            <a:off x="1566716" y="2513949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3"/>
          <p:cNvCxnSpPr/>
          <p:nvPr/>
        </p:nvCxnSpPr>
        <p:spPr>
          <a:xfrm flipH="1">
            <a:off x="3333832" y="2513949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3"/>
          <p:cNvCxnSpPr/>
          <p:nvPr/>
        </p:nvCxnSpPr>
        <p:spPr>
          <a:xfrm>
            <a:off x="5100875" y="2513713"/>
            <a:ext cx="1767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3"/>
          <p:cNvCxnSpPr/>
          <p:nvPr/>
        </p:nvCxnSpPr>
        <p:spPr>
          <a:xfrm flipH="1">
            <a:off x="5107257" y="2513611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3"/>
          <p:cNvCxnSpPr/>
          <p:nvPr/>
        </p:nvCxnSpPr>
        <p:spPr>
          <a:xfrm flipH="1">
            <a:off x="6874332" y="2513611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3"/>
          <p:cNvCxnSpPr/>
          <p:nvPr/>
        </p:nvCxnSpPr>
        <p:spPr>
          <a:xfrm>
            <a:off x="8782975" y="2513725"/>
            <a:ext cx="1767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3"/>
          <p:cNvCxnSpPr/>
          <p:nvPr/>
        </p:nvCxnSpPr>
        <p:spPr>
          <a:xfrm flipH="1">
            <a:off x="8789357" y="2513624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3"/>
          <p:cNvCxnSpPr/>
          <p:nvPr/>
        </p:nvCxnSpPr>
        <p:spPr>
          <a:xfrm flipH="1">
            <a:off x="10556432" y="2513624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7" name="Google Shape;237;p23"/>
          <p:cNvSpPr txBox="1"/>
          <p:nvPr/>
        </p:nvSpPr>
        <p:spPr>
          <a:xfrm>
            <a:off x="1570567" y="191884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Before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100892" y="191884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During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8793167" y="191884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After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3056013" y="3153747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4853200" y="31537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6659375" y="31537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8473063" y="31865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10293913" y="31537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873350" y="760100"/>
            <a:ext cx="105519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Setup </a:t>
            </a:r>
            <a:r>
              <a:rPr lang="en"/>
              <a:t>- Immediate </a:t>
            </a:r>
            <a:endParaRPr/>
          </a:p>
        </p:txBody>
      </p:sp>
      <p:sp>
        <p:nvSpPr>
          <p:cNvPr id="250" name="Google Shape;250;p24"/>
          <p:cNvSpPr txBox="1"/>
          <p:nvPr>
            <p:ph idx="4" type="body"/>
          </p:nvPr>
        </p:nvSpPr>
        <p:spPr>
          <a:xfrm>
            <a:off x="6464146" y="2967650"/>
            <a:ext cx="49611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Choose 1 member of exec team or liaison</a:t>
            </a:r>
            <a:endParaRPr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Can be yourself 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Fill information in form (Drive)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One-time form 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If update needed, email Finance Chair </a:t>
            </a:r>
            <a:endParaRPr/>
          </a:p>
        </p:txBody>
      </p:sp>
      <p:sp>
        <p:nvSpPr>
          <p:cNvPr id="251" name="Google Shape;251;p24"/>
          <p:cNvSpPr txBox="1"/>
          <p:nvPr>
            <p:ph idx="3" type="body"/>
          </p:nvPr>
        </p:nvSpPr>
        <p:spPr>
          <a:xfrm>
            <a:off x="873350" y="2979400"/>
            <a:ext cx="49608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Must be completed by each treasurer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Sent in email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Fill in blanks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Sign and return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Leave board member info blank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 txBox="1"/>
          <p:nvPr>
            <p:ph idx="1" type="subTitle"/>
          </p:nvPr>
        </p:nvSpPr>
        <p:spPr>
          <a:xfrm>
            <a:off x="1201710" y="2218100"/>
            <a:ext cx="49611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Security Agreement 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53" name="Google Shape;253;p24"/>
          <p:cNvSpPr txBox="1"/>
          <p:nvPr>
            <p:ph idx="2" type="subTitle"/>
          </p:nvPr>
        </p:nvSpPr>
        <p:spPr>
          <a:xfrm>
            <a:off x="7020655" y="2151600"/>
            <a:ext cx="49608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Budget Recipient Info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54" name="Google Shape;254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5" name="Google Shape;255;p24"/>
          <p:cNvCxnSpPr/>
          <p:nvPr/>
        </p:nvCxnSpPr>
        <p:spPr>
          <a:xfrm>
            <a:off x="952450" y="1660700"/>
            <a:ext cx="45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4"/>
          <p:cNvSpPr/>
          <p:nvPr/>
        </p:nvSpPr>
        <p:spPr>
          <a:xfrm>
            <a:off x="1155900" y="760102"/>
            <a:ext cx="205200" cy="237600"/>
          </a:xfrm>
          <a:custGeom>
            <a:rect b="b" l="l" r="r" t="t"/>
            <a:pathLst>
              <a:path extrusionOk="0" h="2160000" w="2160000">
                <a:moveTo>
                  <a:pt x="1095825" y="0"/>
                </a:moveTo>
                <a:lnTo>
                  <a:pt x="1108157" y="0"/>
                </a:lnTo>
                <a:lnTo>
                  <a:pt x="1113289" y="101634"/>
                </a:lnTo>
                <a:cubicBezTo>
                  <a:pt x="1164909" y="609924"/>
                  <a:pt x="1568999" y="1014015"/>
                  <a:pt x="2077289" y="1065634"/>
                </a:cubicBezTo>
                <a:lnTo>
                  <a:pt x="2160000" y="1069811"/>
                </a:lnTo>
                <a:lnTo>
                  <a:pt x="2160000" y="1089613"/>
                </a:lnTo>
                <a:lnTo>
                  <a:pt x="2143732" y="1088791"/>
                </a:lnTo>
                <a:cubicBezTo>
                  <a:pt x="1584543" y="1088791"/>
                  <a:pt x="1124615" y="1513770"/>
                  <a:pt x="1069308" y="2058367"/>
                </a:cubicBezTo>
                <a:lnTo>
                  <a:pt x="1064176" y="2160000"/>
                </a:lnTo>
                <a:lnTo>
                  <a:pt x="1051844" y="2160000"/>
                </a:lnTo>
                <a:lnTo>
                  <a:pt x="1046712" y="2058367"/>
                </a:lnTo>
                <a:cubicBezTo>
                  <a:pt x="995093" y="1550077"/>
                  <a:pt x="591002" y="1145987"/>
                  <a:pt x="82712" y="1094367"/>
                </a:cubicBezTo>
                <a:lnTo>
                  <a:pt x="0" y="1090190"/>
                </a:lnTo>
                <a:lnTo>
                  <a:pt x="0" y="1070389"/>
                </a:lnTo>
                <a:lnTo>
                  <a:pt x="16269" y="1071210"/>
                </a:lnTo>
                <a:cubicBezTo>
                  <a:pt x="575458" y="1071210"/>
                  <a:pt x="1035386" y="646231"/>
                  <a:pt x="1090693" y="1016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24"/>
          <p:cNvGrpSpPr/>
          <p:nvPr/>
        </p:nvGrpSpPr>
        <p:grpSpPr>
          <a:xfrm>
            <a:off x="2248819" y="5070145"/>
            <a:ext cx="801002" cy="763513"/>
            <a:chOff x="3171000" y="4021950"/>
            <a:chExt cx="268100" cy="265875"/>
          </a:xfrm>
        </p:grpSpPr>
        <p:sp>
          <p:nvSpPr>
            <p:cNvPr id="258" name="Google Shape;258;p24"/>
            <p:cNvSpPr/>
            <p:nvPr/>
          </p:nvSpPr>
          <p:spPr>
            <a:xfrm>
              <a:off x="3171000" y="4058525"/>
              <a:ext cx="230200" cy="229300"/>
            </a:xfrm>
            <a:custGeom>
              <a:rect b="b" l="l" r="r" t="t"/>
              <a:pathLst>
                <a:path extrusionOk="0" h="9172" w="9208">
                  <a:moveTo>
                    <a:pt x="1782" y="6720"/>
                  </a:moveTo>
                  <a:cubicBezTo>
                    <a:pt x="1957" y="6720"/>
                    <a:pt x="2130" y="6787"/>
                    <a:pt x="2266" y="6923"/>
                  </a:cubicBezTo>
                  <a:cubicBezTo>
                    <a:pt x="2534" y="7191"/>
                    <a:pt x="2534" y="7619"/>
                    <a:pt x="2266" y="7869"/>
                  </a:cubicBezTo>
                  <a:lnTo>
                    <a:pt x="1142" y="8244"/>
                  </a:lnTo>
                  <a:lnTo>
                    <a:pt x="928" y="8047"/>
                  </a:lnTo>
                  <a:lnTo>
                    <a:pt x="1303" y="6905"/>
                  </a:lnTo>
                  <a:cubicBezTo>
                    <a:pt x="1443" y="6783"/>
                    <a:pt x="1614" y="6720"/>
                    <a:pt x="1782" y="6720"/>
                  </a:cubicBezTo>
                  <a:close/>
                  <a:moveTo>
                    <a:pt x="7494" y="0"/>
                  </a:moveTo>
                  <a:lnTo>
                    <a:pt x="839" y="6656"/>
                  </a:lnTo>
                  <a:lnTo>
                    <a:pt x="0" y="9171"/>
                  </a:lnTo>
                  <a:lnTo>
                    <a:pt x="2552" y="8333"/>
                  </a:lnTo>
                  <a:lnTo>
                    <a:pt x="9207" y="1695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3367725" y="4021950"/>
              <a:ext cx="71375" cy="69150"/>
            </a:xfrm>
            <a:custGeom>
              <a:rect b="b" l="l" r="r" t="t"/>
              <a:pathLst>
                <a:path extrusionOk="0" h="2766" w="2855">
                  <a:moveTo>
                    <a:pt x="1320" y="0"/>
                  </a:moveTo>
                  <a:cubicBezTo>
                    <a:pt x="1187" y="0"/>
                    <a:pt x="1053" y="54"/>
                    <a:pt x="946" y="161"/>
                  </a:cubicBezTo>
                  <a:lnTo>
                    <a:pt x="0" y="1089"/>
                  </a:lnTo>
                  <a:lnTo>
                    <a:pt x="1695" y="2766"/>
                  </a:lnTo>
                  <a:lnTo>
                    <a:pt x="2623" y="1838"/>
                  </a:lnTo>
                  <a:cubicBezTo>
                    <a:pt x="2855" y="1642"/>
                    <a:pt x="2855" y="1303"/>
                    <a:pt x="2641" y="1106"/>
                  </a:cubicBezTo>
                  <a:lnTo>
                    <a:pt x="1695" y="161"/>
                  </a:lnTo>
                  <a:cubicBezTo>
                    <a:pt x="1588" y="54"/>
                    <a:pt x="1454" y="0"/>
                    <a:pt x="13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" name="Google Shape;260;p24"/>
          <p:cNvGrpSpPr/>
          <p:nvPr/>
        </p:nvGrpSpPr>
        <p:grpSpPr>
          <a:xfrm>
            <a:off x="8578850" y="5055746"/>
            <a:ext cx="731703" cy="792307"/>
            <a:chOff x="2033075" y="2942475"/>
            <a:chExt cx="206125" cy="265875"/>
          </a:xfrm>
        </p:grpSpPr>
        <p:sp>
          <p:nvSpPr>
            <p:cNvPr id="261" name="Google Shape;261;p24"/>
            <p:cNvSpPr/>
            <p:nvPr/>
          </p:nvSpPr>
          <p:spPr>
            <a:xfrm>
              <a:off x="2033075" y="2942475"/>
              <a:ext cx="206125" cy="265875"/>
            </a:xfrm>
            <a:custGeom>
              <a:rect b="b" l="l" r="r" t="t"/>
              <a:pathLst>
                <a:path extrusionOk="0" h="10635" w="8245">
                  <a:moveTo>
                    <a:pt x="4908" y="1124"/>
                  </a:moveTo>
                  <a:lnTo>
                    <a:pt x="6567" y="2783"/>
                  </a:lnTo>
                  <a:lnTo>
                    <a:pt x="4908" y="2783"/>
                  </a:lnTo>
                  <a:lnTo>
                    <a:pt x="4908" y="1124"/>
                  </a:lnTo>
                  <a:close/>
                  <a:moveTo>
                    <a:pt x="4122" y="803"/>
                  </a:moveTo>
                  <a:lnTo>
                    <a:pt x="4122" y="3586"/>
                  </a:lnTo>
                  <a:lnTo>
                    <a:pt x="7441" y="3586"/>
                  </a:lnTo>
                  <a:lnTo>
                    <a:pt x="7441" y="9849"/>
                  </a:lnTo>
                  <a:lnTo>
                    <a:pt x="786" y="9849"/>
                  </a:lnTo>
                  <a:lnTo>
                    <a:pt x="786" y="803"/>
                  </a:lnTo>
                  <a:close/>
                  <a:moveTo>
                    <a:pt x="1" y="0"/>
                  </a:moveTo>
                  <a:lnTo>
                    <a:pt x="1" y="10634"/>
                  </a:lnTo>
                  <a:lnTo>
                    <a:pt x="8244" y="10634"/>
                  </a:lnTo>
                  <a:lnTo>
                    <a:pt x="8244" y="2926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2072775" y="3065575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2072775" y="3038825"/>
              <a:ext cx="43300" cy="13400"/>
            </a:xfrm>
            <a:custGeom>
              <a:rect b="b" l="l" r="r" t="t"/>
              <a:pathLst>
                <a:path extrusionOk="0" h="536" w="1732">
                  <a:moveTo>
                    <a:pt x="1" y="0"/>
                  </a:moveTo>
                  <a:lnTo>
                    <a:pt x="1" y="535"/>
                  </a:lnTo>
                  <a:lnTo>
                    <a:pt x="1732" y="535"/>
                  </a:lnTo>
                  <a:lnTo>
                    <a:pt x="17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2072775" y="3091900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2072775" y="3118650"/>
              <a:ext cx="126275" cy="13425"/>
            </a:xfrm>
            <a:custGeom>
              <a:rect b="b" l="l" r="r" t="t"/>
              <a:pathLst>
                <a:path extrusionOk="0" h="537" w="5051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2072775" y="3145425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24"/>
          <p:cNvSpPr/>
          <p:nvPr/>
        </p:nvSpPr>
        <p:spPr>
          <a:xfrm>
            <a:off x="424200" y="2146650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24"/>
          <p:cNvSpPr txBox="1"/>
          <p:nvPr/>
        </p:nvSpPr>
        <p:spPr>
          <a:xfrm>
            <a:off x="521177" y="2260469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6225875" y="2093825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24"/>
          <p:cNvSpPr txBox="1"/>
          <p:nvPr/>
        </p:nvSpPr>
        <p:spPr>
          <a:xfrm>
            <a:off x="6322852" y="2207644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873350" y="760100"/>
            <a:ext cx="105519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</a:t>
            </a:r>
            <a:r>
              <a:rPr lang="en"/>
              <a:t>month begins</a:t>
            </a:r>
            <a:endParaRPr/>
          </a:p>
        </p:txBody>
      </p:sp>
      <p:sp>
        <p:nvSpPr>
          <p:cNvPr id="276" name="Google Shape;276;p25"/>
          <p:cNvSpPr txBox="1"/>
          <p:nvPr>
            <p:ph idx="4" type="body"/>
          </p:nvPr>
        </p:nvSpPr>
        <p:spPr>
          <a:xfrm>
            <a:off x="6464146" y="2967650"/>
            <a:ext cx="49611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W</a:t>
            </a:r>
            <a:r>
              <a:rPr lang="en"/>
              <a:t>ait for the budget approval email and the cheque to arrive via mail 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Respond to approval email with confirmation that cheque was received (</a:t>
            </a:r>
            <a:r>
              <a:rPr b="1" lang="en"/>
              <a:t>include the cheque number</a:t>
            </a:r>
            <a:r>
              <a:rPr lang="en"/>
              <a:t>)</a:t>
            </a:r>
            <a:endParaRPr/>
          </a:p>
        </p:txBody>
      </p:sp>
      <p:sp>
        <p:nvSpPr>
          <p:cNvPr id="277" name="Google Shape;277;p25"/>
          <p:cNvSpPr txBox="1"/>
          <p:nvPr>
            <p:ph idx="3" type="body"/>
          </p:nvPr>
        </p:nvSpPr>
        <p:spPr>
          <a:xfrm>
            <a:off x="873350" y="2807375"/>
            <a:ext cx="49608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10 days before the upcoming month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Write </a:t>
            </a:r>
            <a:r>
              <a:rPr lang="en"/>
              <a:t>the total amount needed for the month in monthly planning box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Fill Budget Request Form (attached to monthly planning and in Drive)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E</a:t>
            </a:r>
            <a:r>
              <a:rPr lang="en"/>
              <a:t>xpenses for </a:t>
            </a:r>
            <a:r>
              <a:rPr b="1" lang="en"/>
              <a:t>all events</a:t>
            </a:r>
            <a:r>
              <a:rPr lang="en"/>
              <a:t> in the month should be requested - don’t submit sheet twice for 1 month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 txBox="1"/>
          <p:nvPr>
            <p:ph idx="1" type="subTitle"/>
          </p:nvPr>
        </p:nvSpPr>
        <p:spPr>
          <a:xfrm>
            <a:off x="1201710" y="2218100"/>
            <a:ext cx="49611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Budget Request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79" name="Google Shape;279;p25"/>
          <p:cNvSpPr txBox="1"/>
          <p:nvPr>
            <p:ph idx="2" type="subTitle"/>
          </p:nvPr>
        </p:nvSpPr>
        <p:spPr>
          <a:xfrm>
            <a:off x="7020655" y="2151600"/>
            <a:ext cx="49608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Approval Email 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80" name="Google Shape;280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1" name="Google Shape;281;p25"/>
          <p:cNvCxnSpPr/>
          <p:nvPr/>
        </p:nvCxnSpPr>
        <p:spPr>
          <a:xfrm>
            <a:off x="952450" y="1660700"/>
            <a:ext cx="45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25"/>
          <p:cNvSpPr/>
          <p:nvPr/>
        </p:nvSpPr>
        <p:spPr>
          <a:xfrm>
            <a:off x="1155900" y="760102"/>
            <a:ext cx="205200" cy="237600"/>
          </a:xfrm>
          <a:custGeom>
            <a:rect b="b" l="l" r="r" t="t"/>
            <a:pathLst>
              <a:path extrusionOk="0" h="2160000" w="2160000">
                <a:moveTo>
                  <a:pt x="1095825" y="0"/>
                </a:moveTo>
                <a:lnTo>
                  <a:pt x="1108157" y="0"/>
                </a:lnTo>
                <a:lnTo>
                  <a:pt x="1113289" y="101634"/>
                </a:lnTo>
                <a:cubicBezTo>
                  <a:pt x="1164909" y="609924"/>
                  <a:pt x="1568999" y="1014015"/>
                  <a:pt x="2077289" y="1065634"/>
                </a:cubicBezTo>
                <a:lnTo>
                  <a:pt x="2160000" y="1069811"/>
                </a:lnTo>
                <a:lnTo>
                  <a:pt x="2160000" y="1089613"/>
                </a:lnTo>
                <a:lnTo>
                  <a:pt x="2143732" y="1088791"/>
                </a:lnTo>
                <a:cubicBezTo>
                  <a:pt x="1584543" y="1088791"/>
                  <a:pt x="1124615" y="1513770"/>
                  <a:pt x="1069308" y="2058367"/>
                </a:cubicBezTo>
                <a:lnTo>
                  <a:pt x="1064176" y="2160000"/>
                </a:lnTo>
                <a:lnTo>
                  <a:pt x="1051844" y="2160000"/>
                </a:lnTo>
                <a:lnTo>
                  <a:pt x="1046712" y="2058367"/>
                </a:lnTo>
                <a:cubicBezTo>
                  <a:pt x="995093" y="1550077"/>
                  <a:pt x="591002" y="1145987"/>
                  <a:pt x="82712" y="1094367"/>
                </a:cubicBezTo>
                <a:lnTo>
                  <a:pt x="0" y="1090190"/>
                </a:lnTo>
                <a:lnTo>
                  <a:pt x="0" y="1070389"/>
                </a:lnTo>
                <a:lnTo>
                  <a:pt x="16269" y="1071210"/>
                </a:lnTo>
                <a:cubicBezTo>
                  <a:pt x="575458" y="1071210"/>
                  <a:pt x="1035386" y="646231"/>
                  <a:pt x="1090693" y="1016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25"/>
          <p:cNvGrpSpPr/>
          <p:nvPr/>
        </p:nvGrpSpPr>
        <p:grpSpPr>
          <a:xfrm>
            <a:off x="2839750" y="5377146"/>
            <a:ext cx="731703" cy="792307"/>
            <a:chOff x="2033075" y="2942475"/>
            <a:chExt cx="206125" cy="265875"/>
          </a:xfrm>
        </p:grpSpPr>
        <p:sp>
          <p:nvSpPr>
            <p:cNvPr id="284" name="Google Shape;284;p25"/>
            <p:cNvSpPr/>
            <p:nvPr/>
          </p:nvSpPr>
          <p:spPr>
            <a:xfrm>
              <a:off x="2033075" y="2942475"/>
              <a:ext cx="206125" cy="265875"/>
            </a:xfrm>
            <a:custGeom>
              <a:rect b="b" l="l" r="r" t="t"/>
              <a:pathLst>
                <a:path extrusionOk="0" h="10635" w="8245">
                  <a:moveTo>
                    <a:pt x="4908" y="1124"/>
                  </a:moveTo>
                  <a:lnTo>
                    <a:pt x="6567" y="2783"/>
                  </a:lnTo>
                  <a:lnTo>
                    <a:pt x="4908" y="2783"/>
                  </a:lnTo>
                  <a:lnTo>
                    <a:pt x="4908" y="1124"/>
                  </a:lnTo>
                  <a:close/>
                  <a:moveTo>
                    <a:pt x="4122" y="803"/>
                  </a:moveTo>
                  <a:lnTo>
                    <a:pt x="4122" y="3586"/>
                  </a:lnTo>
                  <a:lnTo>
                    <a:pt x="7441" y="3586"/>
                  </a:lnTo>
                  <a:lnTo>
                    <a:pt x="7441" y="9849"/>
                  </a:lnTo>
                  <a:lnTo>
                    <a:pt x="786" y="9849"/>
                  </a:lnTo>
                  <a:lnTo>
                    <a:pt x="786" y="803"/>
                  </a:lnTo>
                  <a:close/>
                  <a:moveTo>
                    <a:pt x="1" y="0"/>
                  </a:moveTo>
                  <a:lnTo>
                    <a:pt x="1" y="10634"/>
                  </a:lnTo>
                  <a:lnTo>
                    <a:pt x="8244" y="10634"/>
                  </a:lnTo>
                  <a:lnTo>
                    <a:pt x="8244" y="2926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2072775" y="3065575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2072775" y="3038825"/>
              <a:ext cx="43300" cy="13400"/>
            </a:xfrm>
            <a:custGeom>
              <a:rect b="b" l="l" r="r" t="t"/>
              <a:pathLst>
                <a:path extrusionOk="0" h="536" w="1732">
                  <a:moveTo>
                    <a:pt x="1" y="0"/>
                  </a:moveTo>
                  <a:lnTo>
                    <a:pt x="1" y="535"/>
                  </a:lnTo>
                  <a:lnTo>
                    <a:pt x="1732" y="535"/>
                  </a:lnTo>
                  <a:lnTo>
                    <a:pt x="17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2072775" y="3091900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2072775" y="3118650"/>
              <a:ext cx="126275" cy="13425"/>
            </a:xfrm>
            <a:custGeom>
              <a:rect b="b" l="l" r="r" t="t"/>
              <a:pathLst>
                <a:path extrusionOk="0" h="537" w="5051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2072775" y="3145425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25"/>
          <p:cNvSpPr/>
          <p:nvPr/>
        </p:nvSpPr>
        <p:spPr>
          <a:xfrm>
            <a:off x="424200" y="2146650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1" name="Google Shape;291;p25"/>
          <p:cNvSpPr txBox="1"/>
          <p:nvPr/>
        </p:nvSpPr>
        <p:spPr>
          <a:xfrm>
            <a:off x="521177" y="2260469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6225875" y="2093825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3" name="Google Shape;293;p25"/>
          <p:cNvSpPr txBox="1"/>
          <p:nvPr/>
        </p:nvSpPr>
        <p:spPr>
          <a:xfrm>
            <a:off x="6322852" y="2207644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4" name="Google Shape;294;p25"/>
          <p:cNvGrpSpPr/>
          <p:nvPr/>
        </p:nvGrpSpPr>
        <p:grpSpPr>
          <a:xfrm>
            <a:off x="8537486" y="5207982"/>
            <a:ext cx="1010384" cy="717891"/>
            <a:chOff x="4250025" y="2848800"/>
            <a:chExt cx="266325" cy="186475"/>
          </a:xfrm>
        </p:grpSpPr>
        <p:sp>
          <p:nvSpPr>
            <p:cNvPr id="295" name="Google Shape;295;p25"/>
            <p:cNvSpPr/>
            <p:nvPr/>
          </p:nvSpPr>
          <p:spPr>
            <a:xfrm>
              <a:off x="4250025" y="2848800"/>
              <a:ext cx="166425" cy="149900"/>
            </a:xfrm>
            <a:custGeom>
              <a:rect b="b" l="l" r="r" t="t"/>
              <a:pathLst>
                <a:path extrusionOk="0" h="5996" w="6657">
                  <a:moveTo>
                    <a:pt x="536" y="0"/>
                  </a:moveTo>
                  <a:cubicBezTo>
                    <a:pt x="233" y="0"/>
                    <a:pt x="1" y="250"/>
                    <a:pt x="1" y="535"/>
                  </a:cubicBezTo>
                  <a:lnTo>
                    <a:pt x="1" y="4122"/>
                  </a:lnTo>
                  <a:cubicBezTo>
                    <a:pt x="1" y="4425"/>
                    <a:pt x="233" y="4657"/>
                    <a:pt x="536" y="4657"/>
                  </a:cubicBezTo>
                  <a:lnTo>
                    <a:pt x="1321" y="4657"/>
                  </a:lnTo>
                  <a:lnTo>
                    <a:pt x="1321" y="5995"/>
                  </a:lnTo>
                  <a:lnTo>
                    <a:pt x="2659" y="4657"/>
                  </a:lnTo>
                  <a:lnTo>
                    <a:pt x="3462" y="4657"/>
                  </a:lnTo>
                  <a:lnTo>
                    <a:pt x="3462" y="1998"/>
                  </a:lnTo>
                  <a:cubicBezTo>
                    <a:pt x="3462" y="1427"/>
                    <a:pt x="3944" y="928"/>
                    <a:pt x="4515" y="928"/>
                  </a:cubicBezTo>
                  <a:lnTo>
                    <a:pt x="6656" y="928"/>
                  </a:lnTo>
                  <a:lnTo>
                    <a:pt x="6656" y="535"/>
                  </a:lnTo>
                  <a:cubicBezTo>
                    <a:pt x="6656" y="250"/>
                    <a:pt x="6424" y="0"/>
                    <a:pt x="61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4349950" y="2885375"/>
              <a:ext cx="166400" cy="149900"/>
            </a:xfrm>
            <a:custGeom>
              <a:rect b="b" l="l" r="r" t="t"/>
              <a:pathLst>
                <a:path extrusionOk="0" h="5996" w="6656">
                  <a:moveTo>
                    <a:pt x="518" y="0"/>
                  </a:moveTo>
                  <a:cubicBezTo>
                    <a:pt x="232" y="0"/>
                    <a:pt x="1" y="250"/>
                    <a:pt x="1" y="535"/>
                  </a:cubicBezTo>
                  <a:lnTo>
                    <a:pt x="1" y="4122"/>
                  </a:lnTo>
                  <a:cubicBezTo>
                    <a:pt x="1" y="4425"/>
                    <a:pt x="232" y="4657"/>
                    <a:pt x="518" y="4657"/>
                  </a:cubicBezTo>
                  <a:lnTo>
                    <a:pt x="3979" y="4657"/>
                  </a:lnTo>
                  <a:lnTo>
                    <a:pt x="5318" y="5995"/>
                  </a:lnTo>
                  <a:lnTo>
                    <a:pt x="5318" y="4657"/>
                  </a:lnTo>
                  <a:lnTo>
                    <a:pt x="6121" y="4657"/>
                  </a:lnTo>
                  <a:cubicBezTo>
                    <a:pt x="6424" y="4657"/>
                    <a:pt x="6656" y="4425"/>
                    <a:pt x="6656" y="4122"/>
                  </a:cubicBezTo>
                  <a:lnTo>
                    <a:pt x="6656" y="535"/>
                  </a:lnTo>
                  <a:cubicBezTo>
                    <a:pt x="6656" y="250"/>
                    <a:pt x="6424" y="0"/>
                    <a:pt x="61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type="title"/>
          </p:nvPr>
        </p:nvSpPr>
        <p:spPr>
          <a:xfrm>
            <a:off x="873350" y="760100"/>
            <a:ext cx="105519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During </a:t>
            </a:r>
            <a:r>
              <a:rPr lang="en"/>
              <a:t>Month</a:t>
            </a:r>
            <a:endParaRPr/>
          </a:p>
        </p:txBody>
      </p:sp>
      <p:sp>
        <p:nvSpPr>
          <p:cNvPr id="302" name="Google Shape;302;p26"/>
          <p:cNvSpPr txBox="1"/>
          <p:nvPr>
            <p:ph idx="4" type="body"/>
          </p:nvPr>
        </p:nvSpPr>
        <p:spPr>
          <a:xfrm>
            <a:off x="6464146" y="2967650"/>
            <a:ext cx="49611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Fill asap after each event 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Upload labelled receipts here 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Only form you can fill multiple times per month </a:t>
            </a:r>
            <a:endParaRPr/>
          </a:p>
        </p:txBody>
      </p:sp>
      <p:sp>
        <p:nvSpPr>
          <p:cNvPr id="303" name="Google Shape;303;p26"/>
          <p:cNvSpPr txBox="1"/>
          <p:nvPr>
            <p:ph idx="3" type="body"/>
          </p:nvPr>
        </p:nvSpPr>
        <p:spPr>
          <a:xfrm>
            <a:off x="873350" y="2821625"/>
            <a:ext cx="49608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Will be sent as a link in email with Drive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K</a:t>
            </a:r>
            <a:r>
              <a:rPr lang="en"/>
              <a:t>eep track of the receipts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M</a:t>
            </a:r>
            <a:r>
              <a:rPr lang="en"/>
              <a:t>ake sure they are labelled according to the petty cash document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Use different tab for each month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Don’t duplicate statement, the one sent to each city is shared with Finance 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 txBox="1"/>
          <p:nvPr>
            <p:ph idx="1" type="subTitle"/>
          </p:nvPr>
        </p:nvSpPr>
        <p:spPr>
          <a:xfrm>
            <a:off x="1201710" y="2218100"/>
            <a:ext cx="49611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Petty Cash Statement 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05" name="Google Shape;305;p26"/>
          <p:cNvSpPr txBox="1"/>
          <p:nvPr>
            <p:ph idx="2" type="subTitle"/>
          </p:nvPr>
        </p:nvSpPr>
        <p:spPr>
          <a:xfrm>
            <a:off x="7020655" y="2151600"/>
            <a:ext cx="49608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Expense Record Form 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06" name="Google Shape;306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7" name="Google Shape;307;p26"/>
          <p:cNvCxnSpPr/>
          <p:nvPr/>
        </p:nvCxnSpPr>
        <p:spPr>
          <a:xfrm>
            <a:off x="952450" y="1660700"/>
            <a:ext cx="45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26"/>
          <p:cNvSpPr/>
          <p:nvPr/>
        </p:nvSpPr>
        <p:spPr>
          <a:xfrm>
            <a:off x="1155900" y="760102"/>
            <a:ext cx="205200" cy="237600"/>
          </a:xfrm>
          <a:custGeom>
            <a:rect b="b" l="l" r="r" t="t"/>
            <a:pathLst>
              <a:path extrusionOk="0" h="2160000" w="2160000">
                <a:moveTo>
                  <a:pt x="1095825" y="0"/>
                </a:moveTo>
                <a:lnTo>
                  <a:pt x="1108157" y="0"/>
                </a:lnTo>
                <a:lnTo>
                  <a:pt x="1113289" y="101634"/>
                </a:lnTo>
                <a:cubicBezTo>
                  <a:pt x="1164909" y="609924"/>
                  <a:pt x="1568999" y="1014015"/>
                  <a:pt x="2077289" y="1065634"/>
                </a:cubicBezTo>
                <a:lnTo>
                  <a:pt x="2160000" y="1069811"/>
                </a:lnTo>
                <a:lnTo>
                  <a:pt x="2160000" y="1089613"/>
                </a:lnTo>
                <a:lnTo>
                  <a:pt x="2143732" y="1088791"/>
                </a:lnTo>
                <a:cubicBezTo>
                  <a:pt x="1584543" y="1088791"/>
                  <a:pt x="1124615" y="1513770"/>
                  <a:pt x="1069308" y="2058367"/>
                </a:cubicBezTo>
                <a:lnTo>
                  <a:pt x="1064176" y="2160000"/>
                </a:lnTo>
                <a:lnTo>
                  <a:pt x="1051844" y="2160000"/>
                </a:lnTo>
                <a:lnTo>
                  <a:pt x="1046712" y="2058367"/>
                </a:lnTo>
                <a:cubicBezTo>
                  <a:pt x="995093" y="1550077"/>
                  <a:pt x="591002" y="1145987"/>
                  <a:pt x="82712" y="1094367"/>
                </a:cubicBezTo>
                <a:lnTo>
                  <a:pt x="0" y="1090190"/>
                </a:lnTo>
                <a:lnTo>
                  <a:pt x="0" y="1070389"/>
                </a:lnTo>
                <a:lnTo>
                  <a:pt x="16269" y="1071210"/>
                </a:lnTo>
                <a:cubicBezTo>
                  <a:pt x="575458" y="1071210"/>
                  <a:pt x="1035386" y="646231"/>
                  <a:pt x="1090693" y="1016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8578850" y="5055746"/>
            <a:ext cx="731703" cy="792307"/>
            <a:chOff x="2033075" y="2942475"/>
            <a:chExt cx="206125" cy="265875"/>
          </a:xfrm>
        </p:grpSpPr>
        <p:sp>
          <p:nvSpPr>
            <p:cNvPr id="310" name="Google Shape;310;p26"/>
            <p:cNvSpPr/>
            <p:nvPr/>
          </p:nvSpPr>
          <p:spPr>
            <a:xfrm>
              <a:off x="2033075" y="2942475"/>
              <a:ext cx="206125" cy="265875"/>
            </a:xfrm>
            <a:custGeom>
              <a:rect b="b" l="l" r="r" t="t"/>
              <a:pathLst>
                <a:path extrusionOk="0" h="10635" w="8245">
                  <a:moveTo>
                    <a:pt x="4908" y="1124"/>
                  </a:moveTo>
                  <a:lnTo>
                    <a:pt x="6567" y="2783"/>
                  </a:lnTo>
                  <a:lnTo>
                    <a:pt x="4908" y="2783"/>
                  </a:lnTo>
                  <a:lnTo>
                    <a:pt x="4908" y="1124"/>
                  </a:lnTo>
                  <a:close/>
                  <a:moveTo>
                    <a:pt x="4122" y="803"/>
                  </a:moveTo>
                  <a:lnTo>
                    <a:pt x="4122" y="3586"/>
                  </a:lnTo>
                  <a:lnTo>
                    <a:pt x="7441" y="3586"/>
                  </a:lnTo>
                  <a:lnTo>
                    <a:pt x="7441" y="9849"/>
                  </a:lnTo>
                  <a:lnTo>
                    <a:pt x="786" y="9849"/>
                  </a:lnTo>
                  <a:lnTo>
                    <a:pt x="786" y="803"/>
                  </a:lnTo>
                  <a:close/>
                  <a:moveTo>
                    <a:pt x="1" y="0"/>
                  </a:moveTo>
                  <a:lnTo>
                    <a:pt x="1" y="10634"/>
                  </a:lnTo>
                  <a:lnTo>
                    <a:pt x="8244" y="10634"/>
                  </a:lnTo>
                  <a:lnTo>
                    <a:pt x="8244" y="2926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2072775" y="3065575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2072775" y="3038825"/>
              <a:ext cx="43300" cy="13400"/>
            </a:xfrm>
            <a:custGeom>
              <a:rect b="b" l="l" r="r" t="t"/>
              <a:pathLst>
                <a:path extrusionOk="0" h="536" w="1732">
                  <a:moveTo>
                    <a:pt x="1" y="0"/>
                  </a:moveTo>
                  <a:lnTo>
                    <a:pt x="1" y="535"/>
                  </a:lnTo>
                  <a:lnTo>
                    <a:pt x="1732" y="535"/>
                  </a:lnTo>
                  <a:lnTo>
                    <a:pt x="17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2072775" y="3091900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2072775" y="3118650"/>
              <a:ext cx="126275" cy="13425"/>
            </a:xfrm>
            <a:custGeom>
              <a:rect b="b" l="l" r="r" t="t"/>
              <a:pathLst>
                <a:path extrusionOk="0" h="537" w="5051">
                  <a:moveTo>
                    <a:pt x="1" y="1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2072775" y="3145425"/>
              <a:ext cx="126275" cy="13400"/>
            </a:xfrm>
            <a:custGeom>
              <a:rect b="b" l="l" r="r" t="t"/>
              <a:pathLst>
                <a:path extrusionOk="0" h="536" w="5051">
                  <a:moveTo>
                    <a:pt x="1" y="0"/>
                  </a:moveTo>
                  <a:lnTo>
                    <a:pt x="1" y="536"/>
                  </a:lnTo>
                  <a:lnTo>
                    <a:pt x="5050" y="536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26"/>
          <p:cNvSpPr/>
          <p:nvPr/>
        </p:nvSpPr>
        <p:spPr>
          <a:xfrm>
            <a:off x="424200" y="2146650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" name="Google Shape;317;p26"/>
          <p:cNvSpPr txBox="1"/>
          <p:nvPr/>
        </p:nvSpPr>
        <p:spPr>
          <a:xfrm>
            <a:off x="521177" y="2260469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6225875" y="2093825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9" name="Google Shape;319;p26"/>
          <p:cNvSpPr txBox="1"/>
          <p:nvPr/>
        </p:nvSpPr>
        <p:spPr>
          <a:xfrm>
            <a:off x="6322852" y="2207644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0" name="Google Shape;320;p26"/>
          <p:cNvGrpSpPr/>
          <p:nvPr/>
        </p:nvGrpSpPr>
        <p:grpSpPr>
          <a:xfrm>
            <a:off x="2887467" y="5368341"/>
            <a:ext cx="731696" cy="717910"/>
            <a:chOff x="4518575" y="2506200"/>
            <a:chExt cx="206100" cy="265450"/>
          </a:xfrm>
        </p:grpSpPr>
        <p:sp>
          <p:nvSpPr>
            <p:cNvPr id="321" name="Google Shape;321;p26"/>
            <p:cNvSpPr/>
            <p:nvPr/>
          </p:nvSpPr>
          <p:spPr>
            <a:xfrm>
              <a:off x="4518575" y="2506200"/>
              <a:ext cx="206100" cy="265450"/>
            </a:xfrm>
            <a:custGeom>
              <a:rect b="b" l="l" r="r" t="t"/>
              <a:pathLst>
                <a:path extrusionOk="0" h="10618" w="8244">
                  <a:moveTo>
                    <a:pt x="7440" y="786"/>
                  </a:moveTo>
                  <a:lnTo>
                    <a:pt x="7440" y="9832"/>
                  </a:lnTo>
                  <a:lnTo>
                    <a:pt x="803" y="9832"/>
                  </a:lnTo>
                  <a:lnTo>
                    <a:pt x="803" y="786"/>
                  </a:lnTo>
                  <a:close/>
                  <a:moveTo>
                    <a:pt x="0" y="1"/>
                  </a:moveTo>
                  <a:lnTo>
                    <a:pt x="0" y="10617"/>
                  </a:lnTo>
                  <a:lnTo>
                    <a:pt x="8243" y="10617"/>
                  </a:lnTo>
                  <a:lnTo>
                    <a:pt x="824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4628300" y="2555725"/>
              <a:ext cx="56225" cy="13400"/>
            </a:xfrm>
            <a:custGeom>
              <a:rect b="b" l="l" r="r" t="t"/>
              <a:pathLst>
                <a:path extrusionOk="0" h="536" w="2249">
                  <a:moveTo>
                    <a:pt x="0" y="0"/>
                  </a:moveTo>
                  <a:lnTo>
                    <a:pt x="0" y="536"/>
                  </a:lnTo>
                  <a:lnTo>
                    <a:pt x="2249" y="536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4628300" y="2608800"/>
              <a:ext cx="56225" cy="13425"/>
            </a:xfrm>
            <a:custGeom>
              <a:rect b="b" l="l" r="r" t="t"/>
              <a:pathLst>
                <a:path extrusionOk="0" h="537" w="2249">
                  <a:moveTo>
                    <a:pt x="0" y="1"/>
                  </a:moveTo>
                  <a:lnTo>
                    <a:pt x="0" y="536"/>
                  </a:lnTo>
                  <a:lnTo>
                    <a:pt x="2249" y="536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4628300" y="2715425"/>
              <a:ext cx="56225" cy="13400"/>
            </a:xfrm>
            <a:custGeom>
              <a:rect b="b" l="l" r="r" t="t"/>
              <a:pathLst>
                <a:path extrusionOk="0" h="536" w="2249">
                  <a:moveTo>
                    <a:pt x="0" y="0"/>
                  </a:moveTo>
                  <a:lnTo>
                    <a:pt x="0" y="535"/>
                  </a:lnTo>
                  <a:lnTo>
                    <a:pt x="2249" y="535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4628300" y="2662325"/>
              <a:ext cx="56225" cy="12975"/>
            </a:xfrm>
            <a:custGeom>
              <a:rect b="b" l="l" r="r" t="t"/>
              <a:pathLst>
                <a:path extrusionOk="0" h="519" w="2249">
                  <a:moveTo>
                    <a:pt x="0" y="1"/>
                  </a:moveTo>
                  <a:lnTo>
                    <a:pt x="0" y="518"/>
                  </a:lnTo>
                  <a:lnTo>
                    <a:pt x="2249" y="518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4558275" y="2539225"/>
              <a:ext cx="49525" cy="40600"/>
            </a:xfrm>
            <a:custGeom>
              <a:rect b="b" l="l" r="r" t="t"/>
              <a:pathLst>
                <a:path extrusionOk="0" h="1624" w="1981">
                  <a:moveTo>
                    <a:pt x="1606" y="0"/>
                  </a:moveTo>
                  <a:lnTo>
                    <a:pt x="732" y="875"/>
                  </a:lnTo>
                  <a:lnTo>
                    <a:pt x="375" y="536"/>
                  </a:lnTo>
                  <a:lnTo>
                    <a:pt x="0" y="910"/>
                  </a:lnTo>
                  <a:lnTo>
                    <a:pt x="732" y="1624"/>
                  </a:lnTo>
                  <a:lnTo>
                    <a:pt x="1981" y="375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4558275" y="2592300"/>
              <a:ext cx="49525" cy="40625"/>
            </a:xfrm>
            <a:custGeom>
              <a:rect b="b" l="l" r="r" t="t"/>
              <a:pathLst>
                <a:path extrusionOk="0" h="1625" w="1981">
                  <a:moveTo>
                    <a:pt x="1606" y="1"/>
                  </a:moveTo>
                  <a:lnTo>
                    <a:pt x="732" y="893"/>
                  </a:lnTo>
                  <a:lnTo>
                    <a:pt x="375" y="536"/>
                  </a:lnTo>
                  <a:lnTo>
                    <a:pt x="0" y="911"/>
                  </a:lnTo>
                  <a:lnTo>
                    <a:pt x="732" y="1624"/>
                  </a:lnTo>
                  <a:lnTo>
                    <a:pt x="1981" y="375"/>
                  </a:lnTo>
                  <a:lnTo>
                    <a:pt x="160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4558275" y="2645375"/>
              <a:ext cx="49525" cy="41075"/>
            </a:xfrm>
            <a:custGeom>
              <a:rect b="b" l="l" r="r" t="t"/>
              <a:pathLst>
                <a:path extrusionOk="0" h="1643" w="1981">
                  <a:moveTo>
                    <a:pt x="1606" y="1"/>
                  </a:moveTo>
                  <a:lnTo>
                    <a:pt x="732" y="893"/>
                  </a:lnTo>
                  <a:lnTo>
                    <a:pt x="375" y="536"/>
                  </a:lnTo>
                  <a:lnTo>
                    <a:pt x="0" y="911"/>
                  </a:lnTo>
                  <a:lnTo>
                    <a:pt x="732" y="1642"/>
                  </a:lnTo>
                  <a:lnTo>
                    <a:pt x="1981" y="376"/>
                  </a:lnTo>
                  <a:lnTo>
                    <a:pt x="160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4558275" y="2698025"/>
              <a:ext cx="49525" cy="40600"/>
            </a:xfrm>
            <a:custGeom>
              <a:rect b="b" l="l" r="r" t="t"/>
              <a:pathLst>
                <a:path extrusionOk="0" h="1624" w="1981">
                  <a:moveTo>
                    <a:pt x="1606" y="0"/>
                  </a:moveTo>
                  <a:lnTo>
                    <a:pt x="732" y="875"/>
                  </a:lnTo>
                  <a:lnTo>
                    <a:pt x="375" y="536"/>
                  </a:lnTo>
                  <a:lnTo>
                    <a:pt x="0" y="910"/>
                  </a:lnTo>
                  <a:lnTo>
                    <a:pt x="732" y="1624"/>
                  </a:lnTo>
                  <a:lnTo>
                    <a:pt x="1981" y="375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>
            <p:ph type="title"/>
          </p:nvPr>
        </p:nvSpPr>
        <p:spPr>
          <a:xfrm>
            <a:off x="873350" y="760100"/>
            <a:ext cx="105519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End </a:t>
            </a:r>
            <a:r>
              <a:rPr lang="en"/>
              <a:t>of Month</a:t>
            </a:r>
            <a:endParaRPr/>
          </a:p>
        </p:txBody>
      </p:sp>
      <p:sp>
        <p:nvSpPr>
          <p:cNvPr id="335" name="Google Shape;335;p27"/>
          <p:cNvSpPr txBox="1"/>
          <p:nvPr>
            <p:ph idx="4" type="body"/>
          </p:nvPr>
        </p:nvSpPr>
        <p:spPr>
          <a:xfrm>
            <a:off x="6446871" y="1619025"/>
            <a:ext cx="49611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Send original copies of receipts to “3477 Glen Erin Drive, Unit 55, Mississauga, Ontario, L5L 2G1” </a:t>
            </a:r>
            <a:r>
              <a:rPr b="1" lang="en"/>
              <a:t>every 4 months</a:t>
            </a:r>
            <a:endParaRPr b="1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Email reminder will be sent 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Envelope must be clearly marked with "city, YM Sisters, cheque no."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If there's more than 1 cheque, write “Receipts 1-5: cheque number 310      Receipts 5-7: cheque 1172” etc.</a:t>
            </a:r>
            <a:endParaRPr/>
          </a:p>
        </p:txBody>
      </p:sp>
      <p:sp>
        <p:nvSpPr>
          <p:cNvPr id="336" name="Google Shape;336;p27"/>
          <p:cNvSpPr txBox="1"/>
          <p:nvPr>
            <p:ph idx="3" type="body"/>
          </p:nvPr>
        </p:nvSpPr>
        <p:spPr>
          <a:xfrm>
            <a:off x="873350" y="2979400"/>
            <a:ext cx="4960800" cy="311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Download Google Sheet as Excel (.xlsx) each month and send it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finance.chair@ymsisters.org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7"/>
          <p:cNvSpPr txBox="1"/>
          <p:nvPr>
            <p:ph idx="1" type="subTitle"/>
          </p:nvPr>
        </p:nvSpPr>
        <p:spPr>
          <a:xfrm>
            <a:off x="1201710" y="2218100"/>
            <a:ext cx="49611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Submit Petty Cash Statement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38" name="Google Shape;338;p27"/>
          <p:cNvSpPr txBox="1"/>
          <p:nvPr>
            <p:ph idx="2" type="subTitle"/>
          </p:nvPr>
        </p:nvSpPr>
        <p:spPr>
          <a:xfrm>
            <a:off x="7003380" y="1055475"/>
            <a:ext cx="49608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>
                <a:highlight>
                  <a:schemeClr val="lt2"/>
                </a:highlight>
              </a:rPr>
              <a:t>Mail physical receipts 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39" name="Google Shape;339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27"/>
          <p:cNvCxnSpPr/>
          <p:nvPr/>
        </p:nvCxnSpPr>
        <p:spPr>
          <a:xfrm>
            <a:off x="952450" y="1660700"/>
            <a:ext cx="45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27"/>
          <p:cNvSpPr/>
          <p:nvPr/>
        </p:nvSpPr>
        <p:spPr>
          <a:xfrm>
            <a:off x="1155900" y="760102"/>
            <a:ext cx="205200" cy="237600"/>
          </a:xfrm>
          <a:custGeom>
            <a:rect b="b" l="l" r="r" t="t"/>
            <a:pathLst>
              <a:path extrusionOk="0" h="2160000" w="2160000">
                <a:moveTo>
                  <a:pt x="1095825" y="0"/>
                </a:moveTo>
                <a:lnTo>
                  <a:pt x="1108157" y="0"/>
                </a:lnTo>
                <a:lnTo>
                  <a:pt x="1113289" y="101634"/>
                </a:lnTo>
                <a:cubicBezTo>
                  <a:pt x="1164909" y="609924"/>
                  <a:pt x="1568999" y="1014015"/>
                  <a:pt x="2077289" y="1065634"/>
                </a:cubicBezTo>
                <a:lnTo>
                  <a:pt x="2160000" y="1069811"/>
                </a:lnTo>
                <a:lnTo>
                  <a:pt x="2160000" y="1089613"/>
                </a:lnTo>
                <a:lnTo>
                  <a:pt x="2143732" y="1088791"/>
                </a:lnTo>
                <a:cubicBezTo>
                  <a:pt x="1584543" y="1088791"/>
                  <a:pt x="1124615" y="1513770"/>
                  <a:pt x="1069308" y="2058367"/>
                </a:cubicBezTo>
                <a:lnTo>
                  <a:pt x="1064176" y="2160000"/>
                </a:lnTo>
                <a:lnTo>
                  <a:pt x="1051844" y="2160000"/>
                </a:lnTo>
                <a:lnTo>
                  <a:pt x="1046712" y="2058367"/>
                </a:lnTo>
                <a:cubicBezTo>
                  <a:pt x="995093" y="1550077"/>
                  <a:pt x="591002" y="1145987"/>
                  <a:pt x="82712" y="1094367"/>
                </a:cubicBezTo>
                <a:lnTo>
                  <a:pt x="0" y="1090190"/>
                </a:lnTo>
                <a:lnTo>
                  <a:pt x="0" y="1070389"/>
                </a:lnTo>
                <a:lnTo>
                  <a:pt x="16269" y="1071210"/>
                </a:lnTo>
                <a:cubicBezTo>
                  <a:pt x="575458" y="1071210"/>
                  <a:pt x="1035386" y="646231"/>
                  <a:pt x="1090693" y="1016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424200" y="2146650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27"/>
          <p:cNvSpPr txBox="1"/>
          <p:nvPr/>
        </p:nvSpPr>
        <p:spPr>
          <a:xfrm>
            <a:off x="521177" y="2260469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6208600" y="997700"/>
            <a:ext cx="731700" cy="7278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27"/>
          <p:cNvSpPr txBox="1"/>
          <p:nvPr/>
        </p:nvSpPr>
        <p:spPr>
          <a:xfrm>
            <a:off x="6305577" y="1111519"/>
            <a:ext cx="537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2527297" y="4737531"/>
            <a:ext cx="731710" cy="763494"/>
          </a:xfrm>
          <a:custGeom>
            <a:rect b="b" l="l" r="r" t="t"/>
            <a:pathLst>
              <a:path extrusionOk="0" h="9849" w="10671">
                <a:moveTo>
                  <a:pt x="8726" y="1430"/>
                </a:moveTo>
                <a:lnTo>
                  <a:pt x="3391" y="6426"/>
                </a:lnTo>
                <a:lnTo>
                  <a:pt x="946" y="5588"/>
                </a:lnTo>
                <a:lnTo>
                  <a:pt x="8726" y="1430"/>
                </a:lnTo>
                <a:close/>
                <a:moveTo>
                  <a:pt x="9957" y="1216"/>
                </a:moveTo>
                <a:lnTo>
                  <a:pt x="8833" y="8282"/>
                </a:lnTo>
                <a:lnTo>
                  <a:pt x="6442" y="7461"/>
                </a:lnTo>
                <a:lnTo>
                  <a:pt x="6424" y="7461"/>
                </a:lnTo>
                <a:lnTo>
                  <a:pt x="5478" y="7122"/>
                </a:lnTo>
                <a:lnTo>
                  <a:pt x="9957" y="1216"/>
                </a:lnTo>
                <a:close/>
                <a:moveTo>
                  <a:pt x="8761" y="2001"/>
                </a:moveTo>
                <a:lnTo>
                  <a:pt x="4943" y="6944"/>
                </a:lnTo>
                <a:lnTo>
                  <a:pt x="4782" y="7158"/>
                </a:lnTo>
                <a:cubicBezTo>
                  <a:pt x="4765" y="7176"/>
                  <a:pt x="4747" y="7211"/>
                  <a:pt x="4729" y="7265"/>
                </a:cubicBezTo>
                <a:lnTo>
                  <a:pt x="4693" y="7425"/>
                </a:lnTo>
                <a:lnTo>
                  <a:pt x="4426" y="8639"/>
                </a:lnTo>
                <a:lnTo>
                  <a:pt x="3783" y="6783"/>
                </a:lnTo>
                <a:lnTo>
                  <a:pt x="8761" y="2001"/>
                </a:lnTo>
                <a:close/>
                <a:moveTo>
                  <a:pt x="5211" y="7622"/>
                </a:moveTo>
                <a:lnTo>
                  <a:pt x="5853" y="7836"/>
                </a:lnTo>
                <a:lnTo>
                  <a:pt x="4961" y="8710"/>
                </a:lnTo>
                <a:lnTo>
                  <a:pt x="4961" y="8710"/>
                </a:lnTo>
                <a:lnTo>
                  <a:pt x="5211" y="7622"/>
                </a:lnTo>
                <a:close/>
                <a:moveTo>
                  <a:pt x="10390" y="0"/>
                </a:moveTo>
                <a:cubicBezTo>
                  <a:pt x="10342" y="0"/>
                  <a:pt x="10292" y="14"/>
                  <a:pt x="10242" y="39"/>
                </a:cubicBezTo>
                <a:lnTo>
                  <a:pt x="161" y="5391"/>
                </a:lnTo>
                <a:cubicBezTo>
                  <a:pt x="72" y="5445"/>
                  <a:pt x="1" y="5552"/>
                  <a:pt x="1" y="5641"/>
                </a:cubicBezTo>
                <a:cubicBezTo>
                  <a:pt x="1" y="5748"/>
                  <a:pt x="90" y="5855"/>
                  <a:pt x="179" y="5873"/>
                </a:cubicBezTo>
                <a:lnTo>
                  <a:pt x="2945" y="6819"/>
                </a:lnTo>
                <a:lnTo>
                  <a:pt x="3301" y="6944"/>
                </a:lnTo>
                <a:lnTo>
                  <a:pt x="3373" y="7176"/>
                </a:lnTo>
                <a:lnTo>
                  <a:pt x="4194" y="9638"/>
                </a:lnTo>
                <a:lnTo>
                  <a:pt x="4194" y="9656"/>
                </a:lnTo>
                <a:lnTo>
                  <a:pt x="4194" y="9674"/>
                </a:lnTo>
                <a:cubicBezTo>
                  <a:pt x="4229" y="9745"/>
                  <a:pt x="4301" y="9816"/>
                  <a:pt x="4390" y="9834"/>
                </a:cubicBezTo>
                <a:cubicBezTo>
                  <a:pt x="4419" y="9844"/>
                  <a:pt x="4446" y="9848"/>
                  <a:pt x="4472" y="9848"/>
                </a:cubicBezTo>
                <a:cubicBezTo>
                  <a:pt x="4543" y="9848"/>
                  <a:pt x="4605" y="9815"/>
                  <a:pt x="4658" y="9763"/>
                </a:cubicBezTo>
                <a:lnTo>
                  <a:pt x="4747" y="9674"/>
                </a:lnTo>
                <a:lnTo>
                  <a:pt x="6424" y="8032"/>
                </a:lnTo>
                <a:lnTo>
                  <a:pt x="8975" y="8906"/>
                </a:lnTo>
                <a:cubicBezTo>
                  <a:pt x="9001" y="8919"/>
                  <a:pt x="9028" y="8925"/>
                  <a:pt x="9056" y="8925"/>
                </a:cubicBezTo>
                <a:cubicBezTo>
                  <a:pt x="9106" y="8925"/>
                  <a:pt x="9155" y="8905"/>
                  <a:pt x="9190" y="8871"/>
                </a:cubicBezTo>
                <a:cubicBezTo>
                  <a:pt x="9261" y="8835"/>
                  <a:pt x="9314" y="8764"/>
                  <a:pt x="9332" y="8692"/>
                </a:cubicBezTo>
                <a:lnTo>
                  <a:pt x="10653" y="324"/>
                </a:lnTo>
                <a:cubicBezTo>
                  <a:pt x="10670" y="199"/>
                  <a:pt x="10617" y="110"/>
                  <a:pt x="10546" y="56"/>
                </a:cubicBezTo>
                <a:cubicBezTo>
                  <a:pt x="10498" y="18"/>
                  <a:pt x="10445" y="0"/>
                  <a:pt x="1039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7"/>
          <p:cNvSpPr/>
          <p:nvPr/>
        </p:nvSpPr>
        <p:spPr>
          <a:xfrm>
            <a:off x="8442179" y="4988205"/>
            <a:ext cx="970488" cy="717891"/>
          </a:xfrm>
          <a:custGeom>
            <a:rect b="b" l="l" r="r" t="t"/>
            <a:pathLst>
              <a:path extrusionOk="0" h="7459" w="10653">
                <a:moveTo>
                  <a:pt x="9475" y="803"/>
                </a:moveTo>
                <a:lnTo>
                  <a:pt x="5514" y="4657"/>
                </a:lnTo>
                <a:cubicBezTo>
                  <a:pt x="5460" y="4711"/>
                  <a:pt x="5394" y="4737"/>
                  <a:pt x="5327" y="4737"/>
                </a:cubicBezTo>
                <a:cubicBezTo>
                  <a:pt x="5260" y="4737"/>
                  <a:pt x="5193" y="4711"/>
                  <a:pt x="5139" y="4657"/>
                </a:cubicBezTo>
                <a:lnTo>
                  <a:pt x="1196" y="803"/>
                </a:lnTo>
                <a:close/>
                <a:moveTo>
                  <a:pt x="804" y="1160"/>
                </a:moveTo>
                <a:lnTo>
                  <a:pt x="3409" y="3693"/>
                </a:lnTo>
                <a:lnTo>
                  <a:pt x="804" y="6299"/>
                </a:lnTo>
                <a:lnTo>
                  <a:pt x="804" y="1160"/>
                </a:lnTo>
                <a:close/>
                <a:moveTo>
                  <a:pt x="9850" y="1178"/>
                </a:moveTo>
                <a:lnTo>
                  <a:pt x="9850" y="6299"/>
                </a:lnTo>
                <a:lnTo>
                  <a:pt x="7263" y="3693"/>
                </a:lnTo>
                <a:lnTo>
                  <a:pt x="9850" y="1178"/>
                </a:lnTo>
                <a:close/>
                <a:moveTo>
                  <a:pt x="6906" y="4068"/>
                </a:moveTo>
                <a:lnTo>
                  <a:pt x="9493" y="6655"/>
                </a:lnTo>
                <a:lnTo>
                  <a:pt x="1196" y="6655"/>
                </a:lnTo>
                <a:lnTo>
                  <a:pt x="3783" y="4068"/>
                </a:lnTo>
                <a:lnTo>
                  <a:pt x="4782" y="5032"/>
                </a:lnTo>
                <a:cubicBezTo>
                  <a:pt x="4943" y="5192"/>
                  <a:pt x="5139" y="5264"/>
                  <a:pt x="5353" y="5264"/>
                </a:cubicBezTo>
                <a:cubicBezTo>
                  <a:pt x="5550" y="5264"/>
                  <a:pt x="5746" y="5192"/>
                  <a:pt x="5907" y="5032"/>
                </a:cubicBezTo>
                <a:lnTo>
                  <a:pt x="6906" y="4068"/>
                </a:lnTo>
                <a:close/>
                <a:moveTo>
                  <a:pt x="1" y="0"/>
                </a:moveTo>
                <a:lnTo>
                  <a:pt x="1" y="7458"/>
                </a:lnTo>
                <a:lnTo>
                  <a:pt x="10653" y="7458"/>
                </a:lnTo>
                <a:lnTo>
                  <a:pt x="1065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415650" y="878305"/>
            <a:ext cx="11360700" cy="1230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8F9FA"/>
                </a:highlight>
              </a:rPr>
              <a:t>Treasurer Cycle Overview</a:t>
            </a:r>
            <a:endParaRPr>
              <a:highlight>
                <a:srgbClr val="F8F9FA"/>
              </a:highlight>
            </a:endParaRPr>
          </a:p>
        </p:txBody>
      </p:sp>
      <p:sp>
        <p:nvSpPr>
          <p:cNvPr id="353" name="Google Shape;353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28"/>
          <p:cNvSpPr/>
          <p:nvPr/>
        </p:nvSpPr>
        <p:spPr>
          <a:xfrm>
            <a:off x="2217227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5" name="Google Shape;355;p28"/>
          <p:cNvSpPr/>
          <p:nvPr/>
        </p:nvSpPr>
        <p:spPr>
          <a:xfrm>
            <a:off x="1170566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6" name="Google Shape;356;p28"/>
          <p:cNvSpPr txBox="1"/>
          <p:nvPr/>
        </p:nvSpPr>
        <p:spPr>
          <a:xfrm>
            <a:off x="1275575" y="3179047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8"/>
          <p:cNvSpPr txBox="1"/>
          <p:nvPr/>
        </p:nvSpPr>
        <p:spPr>
          <a:xfrm>
            <a:off x="693128" y="409169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Budget Request Form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8"/>
          <p:cNvSpPr txBox="1"/>
          <p:nvPr/>
        </p:nvSpPr>
        <p:spPr>
          <a:xfrm>
            <a:off x="693150" y="4602543"/>
            <a:ext cx="1747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With monthly planning (10 days before month start)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2942580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" name="Google Shape;360;p28"/>
          <p:cNvSpPr txBox="1"/>
          <p:nvPr/>
        </p:nvSpPr>
        <p:spPr>
          <a:xfrm>
            <a:off x="2465192" y="399349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Approval Email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2465192" y="4602543"/>
            <a:ext cx="1747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Reply with cheque number when funds are received in mail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8"/>
          <p:cNvSpPr txBox="1"/>
          <p:nvPr/>
        </p:nvSpPr>
        <p:spPr>
          <a:xfrm>
            <a:off x="3047578" y="327004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t/>
            </a:r>
            <a:endParaRPr b="1"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4747650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364" name="Google Shape;364;p28"/>
          <p:cNvSpPr txBox="1"/>
          <p:nvPr/>
        </p:nvSpPr>
        <p:spPr>
          <a:xfrm>
            <a:off x="4238673" y="4091704"/>
            <a:ext cx="1813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Petty Cash Statement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4237275" y="4602542"/>
            <a:ext cx="1813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Collect receipts, label and track their information for ICNA records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6554107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6076715" y="409169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Expense Record Form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8"/>
          <p:cNvSpPr txBox="1"/>
          <p:nvPr/>
        </p:nvSpPr>
        <p:spPr>
          <a:xfrm>
            <a:off x="6076718" y="4602543"/>
            <a:ext cx="1747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Fill form after each event and upload labelled receipts here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8360599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7848029" y="4091704"/>
            <a:ext cx="1813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Submit Petty Cash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7850211" y="4602543"/>
            <a:ext cx="1813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Download and email petty cash statement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10195770" y="3055149"/>
            <a:ext cx="792300" cy="792300"/>
          </a:xfrm>
          <a:prstGeom prst="ellipse">
            <a:avLst/>
          </a:prstGeom>
          <a:noFill/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9685375" y="3993492"/>
            <a:ext cx="1813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Mail Receipts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9685382" y="4602543"/>
            <a:ext cx="18132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Send in physical copies of receipts every 4 months </a:t>
            </a:r>
            <a:endParaRPr sz="15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4005810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5811627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7618127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9439010" y="34595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1C7F"/>
              </a:solidFill>
            </a:endParaRPr>
          </a:p>
        </p:txBody>
      </p:sp>
      <p:cxnSp>
        <p:nvCxnSpPr>
          <p:cNvPr id="379" name="Google Shape;379;p28"/>
          <p:cNvCxnSpPr/>
          <p:nvPr/>
        </p:nvCxnSpPr>
        <p:spPr>
          <a:xfrm>
            <a:off x="1560375" y="2514050"/>
            <a:ext cx="1767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28"/>
          <p:cNvCxnSpPr>
            <a:endCxn id="355" idx="0"/>
          </p:cNvCxnSpPr>
          <p:nvPr/>
        </p:nvCxnSpPr>
        <p:spPr>
          <a:xfrm flipH="1">
            <a:off x="1566716" y="2513949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28"/>
          <p:cNvCxnSpPr/>
          <p:nvPr/>
        </p:nvCxnSpPr>
        <p:spPr>
          <a:xfrm flipH="1">
            <a:off x="3333832" y="2513949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28"/>
          <p:cNvCxnSpPr/>
          <p:nvPr/>
        </p:nvCxnSpPr>
        <p:spPr>
          <a:xfrm>
            <a:off x="5100875" y="2513713"/>
            <a:ext cx="1767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8"/>
          <p:cNvCxnSpPr/>
          <p:nvPr/>
        </p:nvCxnSpPr>
        <p:spPr>
          <a:xfrm flipH="1">
            <a:off x="5107257" y="2513611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28"/>
          <p:cNvCxnSpPr/>
          <p:nvPr/>
        </p:nvCxnSpPr>
        <p:spPr>
          <a:xfrm flipH="1">
            <a:off x="6874332" y="2513611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8"/>
          <p:cNvCxnSpPr/>
          <p:nvPr/>
        </p:nvCxnSpPr>
        <p:spPr>
          <a:xfrm>
            <a:off x="8782975" y="2513725"/>
            <a:ext cx="1767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8"/>
          <p:cNvCxnSpPr/>
          <p:nvPr/>
        </p:nvCxnSpPr>
        <p:spPr>
          <a:xfrm flipH="1">
            <a:off x="8789357" y="2513624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28"/>
          <p:cNvCxnSpPr/>
          <p:nvPr/>
        </p:nvCxnSpPr>
        <p:spPr>
          <a:xfrm flipH="1">
            <a:off x="10556432" y="2513624"/>
            <a:ext cx="9900" cy="5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88" name="Google Shape;388;p28"/>
          <p:cNvSpPr txBox="1"/>
          <p:nvPr/>
        </p:nvSpPr>
        <p:spPr>
          <a:xfrm>
            <a:off x="1570567" y="191884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Before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5100892" y="191884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During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8793167" y="1918842"/>
            <a:ext cx="1747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After</a:t>
            </a:r>
            <a:endParaRPr b="1" sz="17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3056013" y="3153747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4853200" y="31537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8"/>
          <p:cNvSpPr txBox="1"/>
          <p:nvPr/>
        </p:nvSpPr>
        <p:spPr>
          <a:xfrm>
            <a:off x="6659375" y="31537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8473063" y="31865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8"/>
          <p:cNvSpPr txBox="1"/>
          <p:nvPr/>
        </p:nvSpPr>
        <p:spPr>
          <a:xfrm>
            <a:off x="10293913" y="3153735"/>
            <a:ext cx="5823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b="1" lang="en" sz="22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 sz="2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"/>
          <p:cNvSpPr txBox="1"/>
          <p:nvPr>
            <p:ph type="title"/>
          </p:nvPr>
        </p:nvSpPr>
        <p:spPr>
          <a:xfrm>
            <a:off x="1344050" y="1894075"/>
            <a:ext cx="5581500" cy="763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400"/>
              <a:t>thank you!</a:t>
            </a:r>
            <a:endParaRPr sz="7400"/>
          </a:p>
        </p:txBody>
      </p:sp>
      <p:sp>
        <p:nvSpPr>
          <p:cNvPr id="401" name="Google Shape;401;p29"/>
          <p:cNvSpPr txBox="1"/>
          <p:nvPr>
            <p:ph idx="1" type="subTitle"/>
          </p:nvPr>
        </p:nvSpPr>
        <p:spPr>
          <a:xfrm>
            <a:off x="1344050" y="2369725"/>
            <a:ext cx="5581500" cy="7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2500">
                <a:highlight>
                  <a:schemeClr val="lt2"/>
                </a:highlight>
              </a:rPr>
              <a:t>Do you have any questions?</a:t>
            </a:r>
            <a:endParaRPr sz="2500">
              <a:highlight>
                <a:schemeClr val="lt2"/>
              </a:highlight>
            </a:endParaRPr>
          </a:p>
        </p:txBody>
      </p:sp>
      <p:sp>
        <p:nvSpPr>
          <p:cNvPr id="402" name="Google Shape;402;p29"/>
          <p:cNvSpPr txBox="1"/>
          <p:nvPr>
            <p:ph idx="2" type="body"/>
          </p:nvPr>
        </p:nvSpPr>
        <p:spPr>
          <a:xfrm>
            <a:off x="1344100" y="2853525"/>
            <a:ext cx="5581500" cy="1341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Feel free to get in contact if </a:t>
            </a:r>
            <a:r>
              <a:rPr lang="en" sz="2300"/>
              <a:t>you</a:t>
            </a:r>
            <a:r>
              <a:rPr lang="en" sz="2300"/>
              <a:t> have any questions later! I’m here for you :)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finance.chair@ymsisters.org</a:t>
            </a:r>
            <a:r>
              <a:rPr lang="en" sz="2300"/>
              <a:t>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437-988-2526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403" name="Google Shape;403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 txBox="1"/>
          <p:nvPr>
            <p:ph type="title"/>
          </p:nvPr>
        </p:nvSpPr>
        <p:spPr>
          <a:xfrm>
            <a:off x="1123750" y="1126775"/>
            <a:ext cx="104358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credits.</a:t>
            </a:r>
            <a:endParaRPr sz="7000"/>
          </a:p>
        </p:txBody>
      </p:sp>
      <p:sp>
        <p:nvSpPr>
          <p:cNvPr id="409" name="Google Shape;409;p30"/>
          <p:cNvSpPr txBox="1"/>
          <p:nvPr>
            <p:ph idx="1" type="body"/>
          </p:nvPr>
        </p:nvSpPr>
        <p:spPr>
          <a:xfrm>
            <a:off x="1123925" y="2508425"/>
            <a:ext cx="10435800" cy="208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lt2"/>
                </a:highlight>
              </a:rPr>
              <a:t>Presentation Template: </a:t>
            </a:r>
            <a:r>
              <a:rPr lang="en" sz="2400" u="sng">
                <a:solidFill>
                  <a:schemeClr val="hlink"/>
                </a:solidFill>
                <a:highlight>
                  <a:schemeClr val="lt2"/>
                </a:highlight>
                <a:hlinkClick r:id="rId3"/>
              </a:rPr>
              <a:t>SlidesMania</a:t>
            </a:r>
            <a:endParaRPr sz="2400"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en" sz="2400"/>
              <a:t>Sample Images: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Unsplash</a:t>
            </a:r>
            <a:endParaRPr sz="2400"/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en"/>
              <a:t>Fonts used in this presentation: Times.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Mania">
  <a:themeElements>
    <a:clrScheme name="Simple Light">
      <a:dk1>
        <a:srgbClr val="000000"/>
      </a:dk1>
      <a:lt1>
        <a:srgbClr val="9097C1"/>
      </a:lt1>
      <a:dk2>
        <a:srgbClr val="171717"/>
      </a:dk2>
      <a:lt2>
        <a:srgbClr val="EEEEEE"/>
      </a:lt2>
      <a:accent1>
        <a:srgbClr val="E8CCD0"/>
      </a:accent1>
      <a:accent2>
        <a:srgbClr val="E8E3DF"/>
      </a:accent2>
      <a:accent3>
        <a:srgbClr val="ECEEF0"/>
      </a:accent3>
      <a:accent4>
        <a:srgbClr val="AFBFDA"/>
      </a:accent4>
      <a:accent5>
        <a:srgbClr val="DBDCE1"/>
      </a:accent5>
      <a:accent6>
        <a:srgbClr val="D0C6D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